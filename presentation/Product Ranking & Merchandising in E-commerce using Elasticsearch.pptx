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10.xml" ContentType="application/vnd.openxmlformats-officedocument.theme+xml"/>
  <Override PartName="/ppt/theme/theme8.xml" ContentType="application/vnd.openxmlformats-officedocument.theme+xml"/>
  <Override PartName="/ppt/theme/theme11.xml" ContentType="application/vnd.openxmlformats-officedocument.theme+xml"/>
  <Override PartName="/ppt/theme/theme9.xml" ContentType="application/vnd.openxmlformats-officedocument.theme+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1.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10.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_rels/presentation.xml.rels" ContentType="application/vnd.openxmlformats-package.relationships+xml"/>
  <Override PartName="/ppt/slideLayouts/_rels/slideLayout9.xml.rels" ContentType="application/vnd.openxmlformats-package.relationships+xml"/>
  <Override PartName="/ppt/slideLayouts/_rels/slideLayout11.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png" ContentType="image/png"/>
  <Override PartName="/ppt/media/image4.png" ContentType="image/png"/>
  <Override PartName="/ppt/media/image12.png" ContentType="image/png"/>
  <Override PartName="/ppt/media/image3.svg" ContentType="image/svg"/>
  <Override PartName="/ppt/media/image5.png" ContentType="image/png"/>
  <Override PartName="/ppt/media/image13.png" ContentType="image/png"/>
  <Override PartName="/ppt/media/image6.png" ContentType="image/png"/>
  <Override PartName="/ppt/media/image7.png" ContentType="image/png"/>
  <Override PartName="/ppt/media/image8.png" ContentType="image/png"/>
  <Override PartName="/ppt/media/image10.png" ContentType="image/png"/>
  <Override PartName="/ppt/media/image2.png" ContentType="image/png"/>
  <Override PartName="/ppt/media/image9.png" ContentType="image/png"/>
  <Override PartName="/ppt/media/image11.png" ContentType="image/png"/>
  <Override PartName="/ppt/slides/_rels/slide9.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8819D33-51C2-4C15-8794-79F470744D5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86237B7-6600-4A99-B180-B5D6E2682A7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B5D7918-83F6-4F25-A3B4-4C4B83DA9EF4}"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28D15A2-C5D0-4F3A-ADBD-EC019962834B}"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746FD60-8B0F-4674-8B02-0F513B4D4CD1}"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8C1E933-82FD-4829-A549-BE2C98671A8E}"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84EAC994-D0D5-4ADD-ABE4-587A259C67A7}"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E312F748-D03D-4C59-AA13-6B971547753E}"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70759A49-7E0E-40C8-8BE2-D70E5530C002}"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E3EAFF3-FB72-4EA3-990A-3CBCD6E5FB62}"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95F38B4C-1167-4232-99B4-3719618F373F}"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 </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81E99F3-50A2-43A9-9064-5060B4C32C67}" type="slidenum">
              <a:rPr b="0" lang="en-US" sz="1200" spc="-1" strike="noStrike">
                <a:solidFill>
                  <a:schemeClr val="dk1">
                    <a:tint val="75000"/>
                  </a:schemeClr>
                </a:solidFill>
                <a:latin typeface="Calibri"/>
              </a:rPr>
              <a:t>11</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068AB4D-82E2-4CD1-8052-59BA49C07A0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66917C9-27FD-4773-B811-498CD80493E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A1D367CE-E37B-4852-AFED-2FB1A1D9C6D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465B2BE-E4B8-4848-B75C-C198AED29FB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C5748BC-E26E-416A-BA70-4F984C44AB8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0E7CA96-4351-4D50-8A33-F760177A2B6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A942F56-F8FB-4094-B0A8-6EE40BDB07A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3192C61-5084-45BE-A7AA-38359CB6021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3572AF6-1C83-4C86-BDEE-569C44B51C8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DC41734F-16B7-4D40-844B-83E53B63E62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png"/><Relationship Id="rId6"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3.png"/><Relationship Id="rId6"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Freeform 2"/>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rect l="textAreaLeft" t="textAreaTop" r="textAreaRight" b="textAreaBottom"/>
            <a:pathLst>
              <a:path w="18288000" h="10287000">
                <a:moveTo>
                  <a:pt x="0" y="0"/>
                </a:moveTo>
                <a:lnTo>
                  <a:pt x="18288000" y="0"/>
                </a:lnTo>
                <a:lnTo>
                  <a:pt x="18288000" y="10287000"/>
                </a:lnTo>
                <a:lnTo>
                  <a:pt x="0" y="102870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TextBox 3"/>
          <p:cNvSpPr/>
          <p:nvPr/>
        </p:nvSpPr>
        <p:spPr>
          <a:xfrm>
            <a:off x="1600200" y="1658160"/>
            <a:ext cx="15510600" cy="2028600"/>
          </a:xfrm>
          <a:prstGeom prst="rect">
            <a:avLst/>
          </a:prstGeom>
          <a:noFill/>
          <a:ln w="0">
            <a:noFill/>
          </a:ln>
        </p:spPr>
        <p:style>
          <a:lnRef idx="0"/>
          <a:fillRef idx="0"/>
          <a:effectRef idx="0"/>
          <a:fontRef idx="minor"/>
        </p:style>
        <p:txBody>
          <a:bodyPr lIns="0" rIns="0" tIns="0" bIns="0" anchor="t">
            <a:spAutoFit/>
          </a:bodyPr>
          <a:p>
            <a:pPr algn="ctr" defTabSz="914400">
              <a:lnSpc>
                <a:spcPts val="15970"/>
              </a:lnSpc>
              <a:spcBef>
                <a:spcPts val="145"/>
              </a:spcBef>
              <a:spcAft>
                <a:spcPts val="1009"/>
              </a:spcAft>
            </a:pPr>
            <a:r>
              <a:rPr b="1" lang="en-US" sz="12800" spc="-1" strike="noStrike">
                <a:solidFill>
                  <a:srgbClr val="ffffff"/>
                </a:solidFill>
                <a:latin typeface="HK Modular"/>
                <a:ea typeface="HK Modular"/>
              </a:rPr>
              <a:t>Product Ranking </a:t>
            </a:r>
            <a:r>
              <a:rPr b="1" lang="en-US" sz="12800" spc="-1" strike="noStrike">
                <a:solidFill>
                  <a:srgbClr val="ffffff"/>
                </a:solidFill>
                <a:latin typeface="HK Modular"/>
                <a:ea typeface="HK Modular"/>
              </a:rPr>
              <a:t> </a:t>
            </a:r>
            <a:endParaRPr b="1" lang="en-US" sz="12800" spc="-1" strike="noStrike">
              <a:solidFill>
                <a:srgbClr val="000000"/>
              </a:solidFill>
              <a:latin typeface="Arial"/>
            </a:endParaRPr>
          </a:p>
        </p:txBody>
      </p:sp>
      <p:sp>
        <p:nvSpPr>
          <p:cNvPr id="69" name="TextBox 4"/>
          <p:cNvSpPr/>
          <p:nvPr/>
        </p:nvSpPr>
        <p:spPr>
          <a:xfrm>
            <a:off x="3436560" y="6261840"/>
            <a:ext cx="11414520" cy="506160"/>
          </a:xfrm>
          <a:prstGeom prst="rect">
            <a:avLst/>
          </a:prstGeom>
          <a:noFill/>
          <a:ln w="0">
            <a:noFill/>
          </a:ln>
        </p:spPr>
        <p:style>
          <a:lnRef idx="0"/>
          <a:fillRef idx="0"/>
          <a:effectRef idx="0"/>
          <a:fontRef idx="minor"/>
        </p:style>
        <p:txBody>
          <a:bodyPr lIns="0" rIns="0" tIns="0" bIns="0" anchor="t">
            <a:spAutoFit/>
          </a:bodyPr>
          <a:p>
            <a:pPr algn="ctr" defTabSz="914400">
              <a:lnSpc>
                <a:spcPts val="3988"/>
              </a:lnSpc>
              <a:spcBef>
                <a:spcPts val="1191"/>
              </a:spcBef>
              <a:spcAft>
                <a:spcPts val="992"/>
              </a:spcAft>
            </a:pPr>
            <a:r>
              <a:rPr b="0" lang="en-US" sz="3190" spc="-1" strike="noStrike">
                <a:solidFill>
                  <a:srgbClr val="ffffff"/>
                </a:solidFill>
                <a:latin typeface="Mina"/>
                <a:ea typeface="Mina"/>
              </a:rPr>
              <a:t>In E-commerce using Elasticsearch</a:t>
            </a:r>
            <a:endParaRPr b="0" lang="en-US" sz="3190" spc="-1" strike="noStrike">
              <a:solidFill>
                <a:srgbClr val="000000"/>
              </a:solidFill>
              <a:latin typeface="Arial"/>
            </a:endParaRPr>
          </a:p>
        </p:txBody>
      </p:sp>
      <p:sp>
        <p:nvSpPr>
          <p:cNvPr id="70" name="TextBox 1"/>
          <p:cNvSpPr/>
          <p:nvPr/>
        </p:nvSpPr>
        <p:spPr>
          <a:xfrm>
            <a:off x="457200" y="8686800"/>
            <a:ext cx="5470920" cy="506880"/>
          </a:xfrm>
          <a:prstGeom prst="rect">
            <a:avLst/>
          </a:prstGeom>
          <a:noFill/>
          <a:ln w="0">
            <a:noFill/>
          </a:ln>
        </p:spPr>
        <p:style>
          <a:lnRef idx="0"/>
          <a:fillRef idx="0"/>
          <a:effectRef idx="0"/>
          <a:fontRef idx="minor"/>
        </p:style>
        <p:txBody>
          <a:bodyPr lIns="0" rIns="0" tIns="0" bIns="0" anchor="t">
            <a:spAutoFit/>
          </a:bodyPr>
          <a:p>
            <a:pPr algn="ctr" defTabSz="914400">
              <a:lnSpc>
                <a:spcPts val="3988"/>
              </a:lnSpc>
              <a:spcBef>
                <a:spcPts val="1191"/>
              </a:spcBef>
              <a:spcAft>
                <a:spcPts val="992"/>
              </a:spcAft>
            </a:pPr>
            <a:r>
              <a:rPr b="0" lang="en-US" sz="3190" spc="-1" strike="noStrike">
                <a:solidFill>
                  <a:srgbClr val="ffffff"/>
                </a:solidFill>
                <a:latin typeface="Mina"/>
                <a:ea typeface="Mina"/>
              </a:rPr>
              <a:t>Torabazari Esmaeil</a:t>
            </a:r>
            <a:endParaRPr b="0" lang="en-US" sz="3190" spc="-1" strike="noStrike">
              <a:solidFill>
                <a:srgbClr val="000000"/>
              </a:solidFill>
              <a:latin typeface="Arial"/>
            </a:endParaRPr>
          </a:p>
        </p:txBody>
      </p:sp>
      <p:sp>
        <p:nvSpPr>
          <p:cNvPr id="71" name="TextBox 2"/>
          <p:cNvSpPr/>
          <p:nvPr/>
        </p:nvSpPr>
        <p:spPr>
          <a:xfrm>
            <a:off x="112320" y="9234720"/>
            <a:ext cx="5470920" cy="506880"/>
          </a:xfrm>
          <a:prstGeom prst="rect">
            <a:avLst/>
          </a:prstGeom>
          <a:noFill/>
          <a:ln w="0">
            <a:noFill/>
          </a:ln>
        </p:spPr>
        <p:style>
          <a:lnRef idx="0"/>
          <a:fillRef idx="0"/>
          <a:effectRef idx="0"/>
          <a:fontRef idx="minor"/>
        </p:style>
        <p:txBody>
          <a:bodyPr lIns="0" rIns="0" tIns="0" bIns="0" anchor="t">
            <a:spAutoFit/>
          </a:bodyPr>
          <a:p>
            <a:pPr algn="ctr" defTabSz="914400">
              <a:lnSpc>
                <a:spcPts val="3988"/>
              </a:lnSpc>
              <a:spcBef>
                <a:spcPts val="1191"/>
              </a:spcBef>
              <a:spcAft>
                <a:spcPts val="992"/>
              </a:spcAft>
            </a:pPr>
            <a:r>
              <a:rPr b="0" lang="en-US" sz="3190" spc="-1" strike="noStrike">
                <a:solidFill>
                  <a:srgbClr val="ffffff"/>
                </a:solidFill>
                <a:latin typeface="Mina"/>
                <a:ea typeface="Mina"/>
              </a:rPr>
              <a:t>Master Student</a:t>
            </a:r>
            <a:endParaRPr b="0" lang="en-US" sz="319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grpSp>
        <p:nvGrpSpPr>
          <p:cNvPr id="72" name="Group 2"/>
          <p:cNvGrpSpPr/>
          <p:nvPr/>
        </p:nvGrpSpPr>
        <p:grpSpPr>
          <a:xfrm>
            <a:off x="1993320" y="3267000"/>
            <a:ext cx="5584680" cy="6105600"/>
            <a:chOff x="1993320" y="3267000"/>
            <a:chExt cx="5584680" cy="6105600"/>
          </a:xfrm>
        </p:grpSpPr>
        <p:sp>
          <p:nvSpPr>
            <p:cNvPr id="73" name="Freeform 3"/>
            <p:cNvSpPr/>
            <p:nvPr/>
          </p:nvSpPr>
          <p:spPr>
            <a:xfrm>
              <a:off x="1993320" y="3647520"/>
              <a:ext cx="5584680" cy="5725080"/>
            </a:xfrm>
            <a:custGeom>
              <a:avLst/>
              <a:gdLst>
                <a:gd name="textAreaLeft" fmla="*/ 0 w 5584680"/>
                <a:gd name="textAreaRight" fmla="*/ 5585040 w 5584680"/>
                <a:gd name="textAreaTop" fmla="*/ 0 h 5725080"/>
                <a:gd name="textAreaBottom" fmla="*/ 5725440 h 572508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TextBox 4"/>
            <p:cNvSpPr/>
            <p:nvPr/>
          </p:nvSpPr>
          <p:spPr>
            <a:xfrm>
              <a:off x="1993320" y="3267000"/>
              <a:ext cx="5584680" cy="61056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75" name="Group 8"/>
          <p:cNvGrpSpPr/>
          <p:nvPr/>
        </p:nvGrpSpPr>
        <p:grpSpPr>
          <a:xfrm>
            <a:off x="8644320" y="3246480"/>
            <a:ext cx="5584680" cy="6126120"/>
            <a:chOff x="8644320" y="3246480"/>
            <a:chExt cx="5584680" cy="6126120"/>
          </a:xfrm>
        </p:grpSpPr>
        <p:sp>
          <p:nvSpPr>
            <p:cNvPr id="76" name="Freeform 9"/>
            <p:cNvSpPr/>
            <p:nvPr/>
          </p:nvSpPr>
          <p:spPr>
            <a:xfrm>
              <a:off x="8644320" y="3628080"/>
              <a:ext cx="5584680" cy="5744520"/>
            </a:xfrm>
            <a:custGeom>
              <a:avLst/>
              <a:gdLst>
                <a:gd name="textAreaLeft" fmla="*/ 0 w 5584680"/>
                <a:gd name="textAreaRight" fmla="*/ 5585040 w 5584680"/>
                <a:gd name="textAreaTop" fmla="*/ 0 h 5744520"/>
                <a:gd name="textAreaBottom" fmla="*/ 5744880 h 574452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TextBox 10"/>
            <p:cNvSpPr/>
            <p:nvPr/>
          </p:nvSpPr>
          <p:spPr>
            <a:xfrm>
              <a:off x="8644320" y="3246480"/>
              <a:ext cx="5584680" cy="61261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78" name="Group 14"/>
          <p:cNvGrpSpPr/>
          <p:nvPr/>
        </p:nvGrpSpPr>
        <p:grpSpPr>
          <a:xfrm>
            <a:off x="2200320" y="3487320"/>
            <a:ext cx="720360" cy="829440"/>
            <a:chOff x="2200320" y="3487320"/>
            <a:chExt cx="720360" cy="829440"/>
          </a:xfrm>
        </p:grpSpPr>
        <p:sp>
          <p:nvSpPr>
            <p:cNvPr id="79" name="Freeform 15"/>
            <p:cNvSpPr/>
            <p:nvPr/>
          </p:nvSpPr>
          <p:spPr>
            <a:xfrm>
              <a:off x="2200320" y="36684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TextBox 16"/>
            <p:cNvSpPr/>
            <p:nvPr/>
          </p:nvSpPr>
          <p:spPr>
            <a:xfrm>
              <a:off x="2200320" y="3487320"/>
              <a:ext cx="720360" cy="829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81" name="Group 20"/>
          <p:cNvGrpSpPr/>
          <p:nvPr/>
        </p:nvGrpSpPr>
        <p:grpSpPr>
          <a:xfrm>
            <a:off x="8851680" y="3487320"/>
            <a:ext cx="720360" cy="829440"/>
            <a:chOff x="8851680" y="3487320"/>
            <a:chExt cx="720360" cy="829440"/>
          </a:xfrm>
        </p:grpSpPr>
        <p:sp>
          <p:nvSpPr>
            <p:cNvPr id="82" name="Freeform 21"/>
            <p:cNvSpPr/>
            <p:nvPr/>
          </p:nvSpPr>
          <p:spPr>
            <a:xfrm>
              <a:off x="8851680" y="36684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Box 22"/>
            <p:cNvSpPr/>
            <p:nvPr/>
          </p:nvSpPr>
          <p:spPr>
            <a:xfrm>
              <a:off x="8851680" y="3487320"/>
              <a:ext cx="720360" cy="829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sp>
        <p:nvSpPr>
          <p:cNvPr id="84" name="Freeform 26"/>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 name="Freeform 27"/>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 name="TextBox 28"/>
          <p:cNvSpPr/>
          <p:nvPr/>
        </p:nvSpPr>
        <p:spPr>
          <a:xfrm>
            <a:off x="2279520" y="381348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sp>
        <p:nvSpPr>
          <p:cNvPr id="87" name="TextBox 30"/>
          <p:cNvSpPr/>
          <p:nvPr/>
        </p:nvSpPr>
        <p:spPr>
          <a:xfrm>
            <a:off x="8930880" y="381348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02</a:t>
            </a:r>
            <a:endParaRPr b="0" lang="en-US" sz="3309" spc="-1" strike="noStrike">
              <a:solidFill>
                <a:srgbClr val="ffffff"/>
              </a:solidFill>
              <a:latin typeface="Arial"/>
            </a:endParaRPr>
          </a:p>
        </p:txBody>
      </p:sp>
      <p:sp>
        <p:nvSpPr>
          <p:cNvPr id="88" name="TextBox 32"/>
          <p:cNvSpPr/>
          <p:nvPr/>
        </p:nvSpPr>
        <p:spPr>
          <a:xfrm>
            <a:off x="3200400" y="5029200"/>
            <a:ext cx="3978720" cy="89928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The process of ordering products for a given search query or category page</a:t>
            </a:r>
            <a:endParaRPr b="0" lang="en-US" sz="2200" spc="-1" strike="noStrike">
              <a:solidFill>
                <a:srgbClr val="ffffff"/>
              </a:solidFill>
              <a:latin typeface="Arial"/>
            </a:endParaRPr>
          </a:p>
        </p:txBody>
      </p:sp>
      <p:sp>
        <p:nvSpPr>
          <p:cNvPr id="89" name="TextBox 34"/>
          <p:cNvSpPr/>
          <p:nvPr/>
        </p:nvSpPr>
        <p:spPr>
          <a:xfrm>
            <a:off x="9737280" y="461052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1" lang="en-US" sz="1800" spc="-1" strike="noStrike">
                <a:solidFill>
                  <a:srgbClr val="ffffff"/>
                </a:solidFill>
                <a:latin typeface="Mukta Light"/>
                <a:ea typeface="Mukta Light"/>
              </a:rPr>
              <a:t>Directly Impacts Revenue</a:t>
            </a:r>
            <a:endParaRPr b="1" lang="en-US" sz="1800" spc="-1" strike="noStrike">
              <a:solidFill>
                <a:srgbClr val="ffffff"/>
              </a:solidFill>
              <a:latin typeface="Arial"/>
            </a:endParaRPr>
          </a:p>
        </p:txBody>
      </p:sp>
      <p:sp>
        <p:nvSpPr>
          <p:cNvPr id="90" name="TextBox 36"/>
          <p:cNvSpPr/>
          <p:nvPr/>
        </p:nvSpPr>
        <p:spPr>
          <a:xfrm>
            <a:off x="3231720" y="3876840"/>
            <a:ext cx="397872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What is Product Ranking?</a:t>
            </a:r>
            <a:endParaRPr b="0" lang="en-US" sz="2090" spc="-1" strike="noStrike">
              <a:solidFill>
                <a:srgbClr val="ffffff"/>
              </a:solidFill>
              <a:latin typeface="Arial"/>
            </a:endParaRPr>
          </a:p>
        </p:txBody>
      </p:sp>
      <p:sp>
        <p:nvSpPr>
          <p:cNvPr id="91" name="TextBox 38"/>
          <p:cNvSpPr/>
          <p:nvPr/>
        </p:nvSpPr>
        <p:spPr>
          <a:xfrm>
            <a:off x="9883080" y="3876840"/>
            <a:ext cx="4469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Why it Matters</a:t>
            </a:r>
            <a:endParaRPr b="0" lang="en-US" sz="2090" spc="-1" strike="noStrike">
              <a:solidFill>
                <a:srgbClr val="ffffff"/>
              </a:solidFill>
              <a:latin typeface="Arial"/>
            </a:endParaRPr>
          </a:p>
        </p:txBody>
      </p:sp>
      <p:sp>
        <p:nvSpPr>
          <p:cNvPr id="92" name="TextBox 40"/>
          <p:cNvSpPr/>
          <p:nvPr/>
        </p:nvSpPr>
        <p:spPr>
          <a:xfrm>
            <a:off x="1993320" y="942840"/>
            <a:ext cx="13111560" cy="710280"/>
          </a:xfrm>
          <a:prstGeom prst="rect">
            <a:avLst/>
          </a:prstGeom>
          <a:noFill/>
          <a:ln w="0">
            <a:noFill/>
          </a:ln>
        </p:spPr>
        <p:style>
          <a:lnRef idx="0"/>
          <a:fillRef idx="0"/>
          <a:effectRef idx="0"/>
          <a:fontRef idx="minor"/>
        </p:style>
        <p:txBody>
          <a:bodyPr lIns="0" rIns="0" tIns="0" bIns="0" anchor="t">
            <a:spAutoFit/>
          </a:bodyPr>
          <a:p>
            <a:pPr algn="ctr" defTabSz="914400">
              <a:lnSpc>
                <a:spcPts val="5590"/>
              </a:lnSpc>
              <a:spcBef>
                <a:spcPts val="1191"/>
              </a:spcBef>
              <a:spcAft>
                <a:spcPts val="992"/>
              </a:spcAft>
            </a:pPr>
            <a:r>
              <a:rPr b="0" lang="en-US" sz="3990" spc="-1" strike="noStrike">
                <a:solidFill>
                  <a:srgbClr val="ffffff"/>
                </a:solidFill>
                <a:latin typeface="HK Modular"/>
                <a:ea typeface="HK Modular"/>
              </a:rPr>
              <a:t>What should we know about Product Ranking</a:t>
            </a:r>
            <a:endParaRPr b="0" lang="en-US" sz="3990" spc="-1" strike="noStrike">
              <a:solidFill>
                <a:srgbClr val="ffffff"/>
              </a:solidFill>
              <a:latin typeface="Arial"/>
            </a:endParaRPr>
          </a:p>
        </p:txBody>
      </p:sp>
      <p:sp>
        <p:nvSpPr>
          <p:cNvPr id="93" name="TextBox 11"/>
          <p:cNvSpPr/>
          <p:nvPr/>
        </p:nvSpPr>
        <p:spPr>
          <a:xfrm>
            <a:off x="3107880" y="6629400"/>
            <a:ext cx="3978720" cy="89928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It's the crucial link between a customer's intent and a business's goals.</a:t>
            </a:r>
            <a:endParaRPr b="0" lang="en-US" sz="2200" spc="-1" strike="noStrike">
              <a:solidFill>
                <a:srgbClr val="ffffff"/>
              </a:solidFill>
              <a:latin typeface="Arial"/>
            </a:endParaRPr>
          </a:p>
        </p:txBody>
      </p:sp>
      <p:sp>
        <p:nvSpPr>
          <p:cNvPr id="94" name="TextBox 41"/>
          <p:cNvSpPr/>
          <p:nvPr/>
        </p:nvSpPr>
        <p:spPr>
          <a:xfrm>
            <a:off x="9737280" y="5029200"/>
            <a:ext cx="3978720" cy="60012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Top results get the most clicks and conversions</a:t>
            </a:r>
            <a:endParaRPr b="0" lang="en-US" sz="2200" spc="-1" strike="noStrike">
              <a:solidFill>
                <a:srgbClr val="ffffff"/>
              </a:solidFill>
              <a:latin typeface="Arial"/>
            </a:endParaRPr>
          </a:p>
        </p:txBody>
      </p:sp>
      <p:sp>
        <p:nvSpPr>
          <p:cNvPr id="95" name="TextBox 42"/>
          <p:cNvSpPr/>
          <p:nvPr/>
        </p:nvSpPr>
        <p:spPr>
          <a:xfrm>
            <a:off x="9737280" y="461160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1" lang="en-US" sz="1800" spc="-1" strike="noStrike">
                <a:solidFill>
                  <a:srgbClr val="ffffff"/>
                </a:solidFill>
                <a:latin typeface="Mukta Light"/>
                <a:ea typeface="Mukta Light"/>
              </a:rPr>
              <a:t>Directly Impacts Revenue</a:t>
            </a:r>
            <a:endParaRPr b="1" lang="en-US" sz="1800" spc="-1" strike="noStrike">
              <a:solidFill>
                <a:srgbClr val="ffffff"/>
              </a:solidFill>
              <a:latin typeface="Arial"/>
            </a:endParaRPr>
          </a:p>
        </p:txBody>
      </p:sp>
      <p:sp>
        <p:nvSpPr>
          <p:cNvPr id="96" name="TextBox 43"/>
          <p:cNvSpPr/>
          <p:nvPr/>
        </p:nvSpPr>
        <p:spPr>
          <a:xfrm>
            <a:off x="9737280" y="610056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1" lang="en-US" sz="1800" spc="-1" strike="noStrike">
                <a:solidFill>
                  <a:srgbClr val="ffffff"/>
                </a:solidFill>
                <a:latin typeface="Mukta Light"/>
                <a:ea typeface="Mukta Light"/>
              </a:rPr>
              <a:t>Defines Customer Experience</a:t>
            </a:r>
            <a:endParaRPr b="0" lang="en-US" sz="1800" spc="-1" strike="noStrike">
              <a:solidFill>
                <a:srgbClr val="ffffff"/>
              </a:solidFill>
              <a:latin typeface="Arial"/>
            </a:endParaRPr>
          </a:p>
        </p:txBody>
      </p:sp>
      <p:sp>
        <p:nvSpPr>
          <p:cNvPr id="97" name="TextBox 44"/>
          <p:cNvSpPr/>
          <p:nvPr/>
        </p:nvSpPr>
        <p:spPr>
          <a:xfrm>
            <a:off x="9737280" y="6487920"/>
            <a:ext cx="3978720" cy="89928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Good ranking feels intuitive and helpful; bad ranking feels broken.</a:t>
            </a:r>
            <a:endParaRPr b="0" lang="en-US" sz="2200" spc="-1" strike="noStrike">
              <a:solidFill>
                <a:srgbClr val="ffffff"/>
              </a:solidFill>
              <a:latin typeface="Arial"/>
            </a:endParaRPr>
          </a:p>
        </p:txBody>
      </p:sp>
      <p:sp>
        <p:nvSpPr>
          <p:cNvPr id="98" name="TextBox 45"/>
          <p:cNvSpPr/>
          <p:nvPr/>
        </p:nvSpPr>
        <p:spPr>
          <a:xfrm>
            <a:off x="9716760" y="768780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1" lang="en-US" sz="1800" spc="-1" strike="noStrike">
                <a:solidFill>
                  <a:srgbClr val="ffffff"/>
                </a:solidFill>
                <a:latin typeface="Mukta Light"/>
                <a:ea typeface="Mukta Light"/>
              </a:rPr>
              <a:t>A Strategic Business Lever</a:t>
            </a:r>
            <a:endParaRPr b="0" lang="en-US" sz="1800" spc="-1" strike="noStrike">
              <a:solidFill>
                <a:srgbClr val="ffffff"/>
              </a:solidFill>
              <a:latin typeface="Arial"/>
            </a:endParaRPr>
          </a:p>
        </p:txBody>
      </p:sp>
      <p:sp>
        <p:nvSpPr>
          <p:cNvPr id="99" name="TextBox 46"/>
          <p:cNvSpPr/>
          <p:nvPr/>
        </p:nvSpPr>
        <p:spPr>
          <a:xfrm>
            <a:off x="9737280" y="8086680"/>
            <a:ext cx="3978720" cy="89928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Allows merchandising teams to execute sales strategies directly within search results.</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Freeform 2"/>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1" name="Freeform 3"/>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102" name="Group 4"/>
          <p:cNvGrpSpPr/>
          <p:nvPr/>
        </p:nvGrpSpPr>
        <p:grpSpPr>
          <a:xfrm>
            <a:off x="1293840" y="4041000"/>
            <a:ext cx="3323520" cy="2387160"/>
            <a:chOff x="1293840" y="4041000"/>
            <a:chExt cx="3323520" cy="2387160"/>
          </a:xfrm>
        </p:grpSpPr>
        <p:sp>
          <p:nvSpPr>
            <p:cNvPr id="103" name="Freeform 5"/>
            <p:cNvSpPr/>
            <p:nvPr/>
          </p:nvSpPr>
          <p:spPr>
            <a:xfrm>
              <a:off x="1293840" y="4041000"/>
              <a:ext cx="3323520" cy="2387160"/>
            </a:xfrm>
            <a:custGeom>
              <a:avLst/>
              <a:gdLst>
                <a:gd name="textAreaLeft" fmla="*/ 0 w 3323520"/>
                <a:gd name="textAreaRight" fmla="*/ 3323880 w 3323520"/>
                <a:gd name="textAreaTop" fmla="*/ 0 h 2387160"/>
                <a:gd name="textAreaBottom" fmla="*/ 2387520 h 2387160"/>
              </a:gdLst>
              <a:ahLst/>
              <a:rect l="textAreaLeft" t="textAreaTop" r="textAreaRight" b="textAreaBottom"/>
              <a:pathLst>
                <a:path w="514941" h="369880">
                  <a:moveTo>
                    <a:pt x="30280" y="0"/>
                  </a:moveTo>
                  <a:lnTo>
                    <a:pt x="484661" y="0"/>
                  </a:lnTo>
                  <a:cubicBezTo>
                    <a:pt x="501385" y="0"/>
                    <a:pt x="514941" y="13557"/>
                    <a:pt x="514941" y="30280"/>
                  </a:cubicBezTo>
                  <a:lnTo>
                    <a:pt x="514941" y="339600"/>
                  </a:lnTo>
                  <a:cubicBezTo>
                    <a:pt x="514941" y="347631"/>
                    <a:pt x="511751" y="355333"/>
                    <a:pt x="506073" y="361012"/>
                  </a:cubicBezTo>
                  <a:cubicBezTo>
                    <a:pt x="500394" y="366690"/>
                    <a:pt x="492692" y="369880"/>
                    <a:pt x="484661" y="369880"/>
                  </a:cubicBezTo>
                  <a:lnTo>
                    <a:pt x="30280" y="369880"/>
                  </a:lnTo>
                  <a:cubicBezTo>
                    <a:pt x="22249" y="369880"/>
                    <a:pt x="14548" y="366690"/>
                    <a:pt x="8869" y="361012"/>
                  </a:cubicBezTo>
                  <a:cubicBezTo>
                    <a:pt x="3190" y="355333"/>
                    <a:pt x="0" y="347631"/>
                    <a:pt x="0" y="339600"/>
                  </a:cubicBezTo>
                  <a:lnTo>
                    <a:pt x="0" y="30280"/>
                  </a:lnTo>
                  <a:cubicBezTo>
                    <a:pt x="0" y="22249"/>
                    <a:pt x="3190" y="14548"/>
                    <a:pt x="8869" y="8869"/>
                  </a:cubicBezTo>
                  <a:cubicBezTo>
                    <a:pt x="14548" y="3190"/>
                    <a:pt x="22249" y="0"/>
                    <a:pt x="30280"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4" name="Group 6"/>
          <p:cNvGrpSpPr/>
          <p:nvPr/>
        </p:nvGrpSpPr>
        <p:grpSpPr>
          <a:xfrm>
            <a:off x="9562320" y="4041000"/>
            <a:ext cx="3323520" cy="2387160"/>
            <a:chOff x="9562320" y="4041000"/>
            <a:chExt cx="3323520" cy="2387160"/>
          </a:xfrm>
        </p:grpSpPr>
        <p:sp>
          <p:nvSpPr>
            <p:cNvPr id="105" name="Freeform 7"/>
            <p:cNvSpPr/>
            <p:nvPr/>
          </p:nvSpPr>
          <p:spPr>
            <a:xfrm>
              <a:off x="9562320" y="4041000"/>
              <a:ext cx="3323520" cy="2387160"/>
            </a:xfrm>
            <a:custGeom>
              <a:avLst/>
              <a:gdLst>
                <a:gd name="textAreaLeft" fmla="*/ 0 w 3323520"/>
                <a:gd name="textAreaRight" fmla="*/ 3323880 w 3323520"/>
                <a:gd name="textAreaTop" fmla="*/ 0 h 2387160"/>
                <a:gd name="textAreaBottom" fmla="*/ 2387520 h 2387160"/>
              </a:gdLst>
              <a:ahLst/>
              <a:rect l="textAreaLeft" t="textAreaTop" r="textAreaRight" b="textAreaBottom"/>
              <a:pathLst>
                <a:path w="514941" h="369880">
                  <a:moveTo>
                    <a:pt x="30280" y="0"/>
                  </a:moveTo>
                  <a:lnTo>
                    <a:pt x="484661" y="0"/>
                  </a:lnTo>
                  <a:cubicBezTo>
                    <a:pt x="501385" y="0"/>
                    <a:pt x="514941" y="13557"/>
                    <a:pt x="514941" y="30280"/>
                  </a:cubicBezTo>
                  <a:lnTo>
                    <a:pt x="514941" y="339600"/>
                  </a:lnTo>
                  <a:cubicBezTo>
                    <a:pt x="514941" y="347631"/>
                    <a:pt x="511751" y="355333"/>
                    <a:pt x="506073" y="361012"/>
                  </a:cubicBezTo>
                  <a:cubicBezTo>
                    <a:pt x="500394" y="366690"/>
                    <a:pt x="492692" y="369880"/>
                    <a:pt x="484661" y="369880"/>
                  </a:cubicBezTo>
                  <a:lnTo>
                    <a:pt x="30280" y="369880"/>
                  </a:lnTo>
                  <a:cubicBezTo>
                    <a:pt x="22249" y="369880"/>
                    <a:pt x="14548" y="366690"/>
                    <a:pt x="8869" y="361012"/>
                  </a:cubicBezTo>
                  <a:cubicBezTo>
                    <a:pt x="3190" y="355333"/>
                    <a:pt x="0" y="347631"/>
                    <a:pt x="0" y="339600"/>
                  </a:cubicBezTo>
                  <a:lnTo>
                    <a:pt x="0" y="30280"/>
                  </a:lnTo>
                  <a:cubicBezTo>
                    <a:pt x="0" y="22249"/>
                    <a:pt x="3190" y="14548"/>
                    <a:pt x="8869" y="8869"/>
                  </a:cubicBezTo>
                  <a:cubicBezTo>
                    <a:pt x="14548" y="3190"/>
                    <a:pt x="22249" y="0"/>
                    <a:pt x="30280" y="0"/>
                  </a:cubicBez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6" name="Group 8"/>
          <p:cNvGrpSpPr/>
          <p:nvPr/>
        </p:nvGrpSpPr>
        <p:grpSpPr>
          <a:xfrm>
            <a:off x="5426280" y="4041000"/>
            <a:ext cx="3323520" cy="2387160"/>
            <a:chOff x="5426280" y="4041000"/>
            <a:chExt cx="3323520" cy="2387160"/>
          </a:xfrm>
        </p:grpSpPr>
        <p:sp>
          <p:nvSpPr>
            <p:cNvPr id="107" name="Freeform 9"/>
            <p:cNvSpPr/>
            <p:nvPr/>
          </p:nvSpPr>
          <p:spPr>
            <a:xfrm>
              <a:off x="5426280" y="4041000"/>
              <a:ext cx="3323520" cy="2387160"/>
            </a:xfrm>
            <a:custGeom>
              <a:avLst/>
              <a:gdLst>
                <a:gd name="textAreaLeft" fmla="*/ 0 w 3323520"/>
                <a:gd name="textAreaRight" fmla="*/ 3323880 w 3323520"/>
                <a:gd name="textAreaTop" fmla="*/ 0 h 2387160"/>
                <a:gd name="textAreaBottom" fmla="*/ 2387520 h 2387160"/>
              </a:gdLst>
              <a:ahLst/>
              <a:rect l="textAreaLeft" t="textAreaTop" r="textAreaRight" b="textAreaBottom"/>
              <a:pathLst>
                <a:path w="514941" h="369880">
                  <a:moveTo>
                    <a:pt x="30280" y="0"/>
                  </a:moveTo>
                  <a:lnTo>
                    <a:pt x="484661" y="0"/>
                  </a:lnTo>
                  <a:cubicBezTo>
                    <a:pt x="501385" y="0"/>
                    <a:pt x="514941" y="13557"/>
                    <a:pt x="514941" y="30280"/>
                  </a:cubicBezTo>
                  <a:lnTo>
                    <a:pt x="514941" y="339600"/>
                  </a:lnTo>
                  <a:cubicBezTo>
                    <a:pt x="514941" y="347631"/>
                    <a:pt x="511751" y="355333"/>
                    <a:pt x="506073" y="361012"/>
                  </a:cubicBezTo>
                  <a:cubicBezTo>
                    <a:pt x="500394" y="366690"/>
                    <a:pt x="492692" y="369880"/>
                    <a:pt x="484661" y="369880"/>
                  </a:cubicBezTo>
                  <a:lnTo>
                    <a:pt x="30280" y="369880"/>
                  </a:lnTo>
                  <a:cubicBezTo>
                    <a:pt x="22249" y="369880"/>
                    <a:pt x="14548" y="366690"/>
                    <a:pt x="8869" y="361012"/>
                  </a:cubicBezTo>
                  <a:cubicBezTo>
                    <a:pt x="3190" y="355333"/>
                    <a:pt x="0" y="347631"/>
                    <a:pt x="0" y="339600"/>
                  </a:cubicBezTo>
                  <a:lnTo>
                    <a:pt x="0" y="30280"/>
                  </a:lnTo>
                  <a:cubicBezTo>
                    <a:pt x="0" y="22249"/>
                    <a:pt x="3190" y="14548"/>
                    <a:pt x="8869" y="8869"/>
                  </a:cubicBezTo>
                  <a:cubicBezTo>
                    <a:pt x="14548" y="3190"/>
                    <a:pt x="22249" y="0"/>
                    <a:pt x="30280" y="0"/>
                  </a:cubicBez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08" name="Group 10"/>
          <p:cNvGrpSpPr/>
          <p:nvPr/>
        </p:nvGrpSpPr>
        <p:grpSpPr>
          <a:xfrm>
            <a:off x="13694400" y="4041000"/>
            <a:ext cx="3323520" cy="2387160"/>
            <a:chOff x="13694400" y="4041000"/>
            <a:chExt cx="3323520" cy="2387160"/>
          </a:xfrm>
        </p:grpSpPr>
        <p:sp>
          <p:nvSpPr>
            <p:cNvPr id="109" name="Freeform 11"/>
            <p:cNvSpPr/>
            <p:nvPr/>
          </p:nvSpPr>
          <p:spPr>
            <a:xfrm>
              <a:off x="13694400" y="4041000"/>
              <a:ext cx="3323520" cy="2387160"/>
            </a:xfrm>
            <a:custGeom>
              <a:avLst/>
              <a:gdLst>
                <a:gd name="textAreaLeft" fmla="*/ 0 w 3323520"/>
                <a:gd name="textAreaRight" fmla="*/ 3323880 w 3323520"/>
                <a:gd name="textAreaTop" fmla="*/ 0 h 2387160"/>
                <a:gd name="textAreaBottom" fmla="*/ 2387520 h 2387160"/>
              </a:gdLst>
              <a:ahLst/>
              <a:rect l="textAreaLeft" t="textAreaTop" r="textAreaRight" b="textAreaBottom"/>
              <a:pathLst>
                <a:path w="514941" h="369880">
                  <a:moveTo>
                    <a:pt x="30280" y="0"/>
                  </a:moveTo>
                  <a:lnTo>
                    <a:pt x="484661" y="0"/>
                  </a:lnTo>
                  <a:cubicBezTo>
                    <a:pt x="501385" y="0"/>
                    <a:pt x="514941" y="13557"/>
                    <a:pt x="514941" y="30280"/>
                  </a:cubicBezTo>
                  <a:lnTo>
                    <a:pt x="514941" y="339600"/>
                  </a:lnTo>
                  <a:cubicBezTo>
                    <a:pt x="514941" y="347631"/>
                    <a:pt x="511751" y="355333"/>
                    <a:pt x="506073" y="361012"/>
                  </a:cubicBezTo>
                  <a:cubicBezTo>
                    <a:pt x="500394" y="366690"/>
                    <a:pt x="492692" y="369880"/>
                    <a:pt x="484661" y="369880"/>
                  </a:cubicBezTo>
                  <a:lnTo>
                    <a:pt x="30280" y="369880"/>
                  </a:lnTo>
                  <a:cubicBezTo>
                    <a:pt x="22249" y="369880"/>
                    <a:pt x="14548" y="366690"/>
                    <a:pt x="8869" y="361012"/>
                  </a:cubicBezTo>
                  <a:cubicBezTo>
                    <a:pt x="3190" y="355333"/>
                    <a:pt x="0" y="347631"/>
                    <a:pt x="0" y="339600"/>
                  </a:cubicBezTo>
                  <a:lnTo>
                    <a:pt x="0" y="30280"/>
                  </a:lnTo>
                  <a:cubicBezTo>
                    <a:pt x="0" y="22249"/>
                    <a:pt x="3190" y="14548"/>
                    <a:pt x="8869" y="8869"/>
                  </a:cubicBezTo>
                  <a:cubicBezTo>
                    <a:pt x="14548" y="3190"/>
                    <a:pt x="22249" y="0"/>
                    <a:pt x="30280" y="0"/>
                  </a:cubicBez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110" name="Group 12"/>
          <p:cNvGrpSpPr/>
          <p:nvPr/>
        </p:nvGrpSpPr>
        <p:grpSpPr>
          <a:xfrm>
            <a:off x="1171080" y="6040800"/>
            <a:ext cx="3544920" cy="3567240"/>
            <a:chOff x="1171080" y="6040800"/>
            <a:chExt cx="3544920" cy="3567240"/>
          </a:xfrm>
        </p:grpSpPr>
        <p:sp>
          <p:nvSpPr>
            <p:cNvPr id="111" name="Freeform 13"/>
            <p:cNvSpPr/>
            <p:nvPr/>
          </p:nvSpPr>
          <p:spPr>
            <a:xfrm>
              <a:off x="1171080" y="6221880"/>
              <a:ext cx="3544920" cy="3386160"/>
            </a:xfrm>
            <a:custGeom>
              <a:avLst/>
              <a:gdLst>
                <a:gd name="textAreaLeft" fmla="*/ 0 w 3544920"/>
                <a:gd name="textAreaRight" fmla="*/ 3545280 w 3544920"/>
                <a:gd name="textAreaTop" fmla="*/ 0 h 3386160"/>
                <a:gd name="textAreaBottom" fmla="*/ 3386520 h 3386160"/>
              </a:gdLst>
              <a:ahLst/>
              <a:rect l="textAreaLeft" t="textAreaTop" r="textAreaRight" b="textAreaBottom"/>
              <a:pathLst>
                <a:path w="933781" h="891935">
                  <a:moveTo>
                    <a:pt x="24020" y="0"/>
                  </a:moveTo>
                  <a:lnTo>
                    <a:pt x="909761" y="0"/>
                  </a:lnTo>
                  <a:cubicBezTo>
                    <a:pt x="923027" y="0"/>
                    <a:pt x="933781" y="10754"/>
                    <a:pt x="933781" y="24020"/>
                  </a:cubicBezTo>
                  <a:lnTo>
                    <a:pt x="933781" y="867915"/>
                  </a:lnTo>
                  <a:cubicBezTo>
                    <a:pt x="933781" y="874286"/>
                    <a:pt x="931250" y="880395"/>
                    <a:pt x="926746" y="884900"/>
                  </a:cubicBezTo>
                  <a:cubicBezTo>
                    <a:pt x="922241" y="889405"/>
                    <a:pt x="916132" y="891935"/>
                    <a:pt x="909761" y="891935"/>
                  </a:cubicBezTo>
                  <a:lnTo>
                    <a:pt x="24020" y="891935"/>
                  </a:lnTo>
                  <a:cubicBezTo>
                    <a:pt x="10754" y="891935"/>
                    <a:pt x="0" y="881181"/>
                    <a:pt x="0" y="867915"/>
                  </a:cubicBezTo>
                  <a:lnTo>
                    <a:pt x="0" y="24020"/>
                  </a:lnTo>
                  <a:cubicBezTo>
                    <a:pt x="0" y="17649"/>
                    <a:pt x="2531" y="11540"/>
                    <a:pt x="7035" y="7035"/>
                  </a:cubicBezTo>
                  <a:cubicBezTo>
                    <a:pt x="11540" y="2531"/>
                    <a:pt x="17649" y="0"/>
                    <a:pt x="24020"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 name="TextBox 14"/>
            <p:cNvSpPr/>
            <p:nvPr/>
          </p:nvSpPr>
          <p:spPr>
            <a:xfrm>
              <a:off x="1171080" y="6040800"/>
              <a:ext cx="3544920" cy="3566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13" name="Group 15"/>
          <p:cNvGrpSpPr/>
          <p:nvPr/>
        </p:nvGrpSpPr>
        <p:grpSpPr>
          <a:xfrm>
            <a:off x="9439200" y="6040800"/>
            <a:ext cx="3544920" cy="3567240"/>
            <a:chOff x="9439200" y="6040800"/>
            <a:chExt cx="3544920" cy="3567240"/>
          </a:xfrm>
        </p:grpSpPr>
        <p:sp>
          <p:nvSpPr>
            <p:cNvPr id="114" name="Freeform 16"/>
            <p:cNvSpPr/>
            <p:nvPr/>
          </p:nvSpPr>
          <p:spPr>
            <a:xfrm>
              <a:off x="9439200" y="6221880"/>
              <a:ext cx="3544920" cy="3386160"/>
            </a:xfrm>
            <a:custGeom>
              <a:avLst/>
              <a:gdLst>
                <a:gd name="textAreaLeft" fmla="*/ 0 w 3544920"/>
                <a:gd name="textAreaRight" fmla="*/ 3545280 w 3544920"/>
                <a:gd name="textAreaTop" fmla="*/ 0 h 3386160"/>
                <a:gd name="textAreaBottom" fmla="*/ 3386520 h 3386160"/>
              </a:gdLst>
              <a:ahLst/>
              <a:rect l="textAreaLeft" t="textAreaTop" r="textAreaRight" b="textAreaBottom"/>
              <a:pathLst>
                <a:path w="933781" h="891935">
                  <a:moveTo>
                    <a:pt x="24020" y="0"/>
                  </a:moveTo>
                  <a:lnTo>
                    <a:pt x="909761" y="0"/>
                  </a:lnTo>
                  <a:cubicBezTo>
                    <a:pt x="923027" y="0"/>
                    <a:pt x="933781" y="10754"/>
                    <a:pt x="933781" y="24020"/>
                  </a:cubicBezTo>
                  <a:lnTo>
                    <a:pt x="933781" y="867915"/>
                  </a:lnTo>
                  <a:cubicBezTo>
                    <a:pt x="933781" y="874286"/>
                    <a:pt x="931250" y="880395"/>
                    <a:pt x="926746" y="884900"/>
                  </a:cubicBezTo>
                  <a:cubicBezTo>
                    <a:pt x="922241" y="889405"/>
                    <a:pt x="916132" y="891935"/>
                    <a:pt x="909761" y="891935"/>
                  </a:cubicBezTo>
                  <a:lnTo>
                    <a:pt x="24020" y="891935"/>
                  </a:lnTo>
                  <a:cubicBezTo>
                    <a:pt x="10754" y="891935"/>
                    <a:pt x="0" y="881181"/>
                    <a:pt x="0" y="867915"/>
                  </a:cubicBezTo>
                  <a:lnTo>
                    <a:pt x="0" y="24020"/>
                  </a:lnTo>
                  <a:cubicBezTo>
                    <a:pt x="0" y="17649"/>
                    <a:pt x="2531" y="11540"/>
                    <a:pt x="7035" y="7035"/>
                  </a:cubicBezTo>
                  <a:cubicBezTo>
                    <a:pt x="11540" y="2531"/>
                    <a:pt x="17649" y="0"/>
                    <a:pt x="24020"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TextBox 17"/>
            <p:cNvSpPr/>
            <p:nvPr/>
          </p:nvSpPr>
          <p:spPr>
            <a:xfrm>
              <a:off x="9439200" y="6040800"/>
              <a:ext cx="3544920" cy="3566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16" name="Group 18"/>
          <p:cNvGrpSpPr/>
          <p:nvPr/>
        </p:nvGrpSpPr>
        <p:grpSpPr>
          <a:xfrm>
            <a:off x="5303160" y="6040800"/>
            <a:ext cx="3544920" cy="3567240"/>
            <a:chOff x="5303160" y="6040800"/>
            <a:chExt cx="3544920" cy="3567240"/>
          </a:xfrm>
        </p:grpSpPr>
        <p:sp>
          <p:nvSpPr>
            <p:cNvPr id="117" name="Freeform 19"/>
            <p:cNvSpPr/>
            <p:nvPr/>
          </p:nvSpPr>
          <p:spPr>
            <a:xfrm>
              <a:off x="5303160" y="6221880"/>
              <a:ext cx="3544920" cy="3386160"/>
            </a:xfrm>
            <a:custGeom>
              <a:avLst/>
              <a:gdLst>
                <a:gd name="textAreaLeft" fmla="*/ 0 w 3544920"/>
                <a:gd name="textAreaRight" fmla="*/ 3545280 w 3544920"/>
                <a:gd name="textAreaTop" fmla="*/ 0 h 3386160"/>
                <a:gd name="textAreaBottom" fmla="*/ 3386520 h 3386160"/>
              </a:gdLst>
              <a:ahLst/>
              <a:rect l="textAreaLeft" t="textAreaTop" r="textAreaRight" b="textAreaBottom"/>
              <a:pathLst>
                <a:path w="933781" h="891935">
                  <a:moveTo>
                    <a:pt x="24020" y="0"/>
                  </a:moveTo>
                  <a:lnTo>
                    <a:pt x="909761" y="0"/>
                  </a:lnTo>
                  <a:cubicBezTo>
                    <a:pt x="923027" y="0"/>
                    <a:pt x="933781" y="10754"/>
                    <a:pt x="933781" y="24020"/>
                  </a:cubicBezTo>
                  <a:lnTo>
                    <a:pt x="933781" y="867915"/>
                  </a:lnTo>
                  <a:cubicBezTo>
                    <a:pt x="933781" y="874286"/>
                    <a:pt x="931250" y="880395"/>
                    <a:pt x="926746" y="884900"/>
                  </a:cubicBezTo>
                  <a:cubicBezTo>
                    <a:pt x="922241" y="889405"/>
                    <a:pt x="916132" y="891935"/>
                    <a:pt x="909761" y="891935"/>
                  </a:cubicBezTo>
                  <a:lnTo>
                    <a:pt x="24020" y="891935"/>
                  </a:lnTo>
                  <a:cubicBezTo>
                    <a:pt x="10754" y="891935"/>
                    <a:pt x="0" y="881181"/>
                    <a:pt x="0" y="867915"/>
                  </a:cubicBezTo>
                  <a:lnTo>
                    <a:pt x="0" y="24020"/>
                  </a:lnTo>
                  <a:cubicBezTo>
                    <a:pt x="0" y="17649"/>
                    <a:pt x="2531" y="11540"/>
                    <a:pt x="7035" y="7035"/>
                  </a:cubicBezTo>
                  <a:cubicBezTo>
                    <a:pt x="11540" y="2531"/>
                    <a:pt x="17649" y="0"/>
                    <a:pt x="24020"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8" name="TextBox 20"/>
            <p:cNvSpPr/>
            <p:nvPr/>
          </p:nvSpPr>
          <p:spPr>
            <a:xfrm>
              <a:off x="5303160" y="6040800"/>
              <a:ext cx="3544920" cy="3566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19" name="Group 21"/>
          <p:cNvGrpSpPr/>
          <p:nvPr/>
        </p:nvGrpSpPr>
        <p:grpSpPr>
          <a:xfrm>
            <a:off x="13571640" y="6040800"/>
            <a:ext cx="3544920" cy="3567240"/>
            <a:chOff x="13571640" y="6040800"/>
            <a:chExt cx="3544920" cy="3567240"/>
          </a:xfrm>
        </p:grpSpPr>
        <p:sp>
          <p:nvSpPr>
            <p:cNvPr id="120" name="Freeform 22"/>
            <p:cNvSpPr/>
            <p:nvPr/>
          </p:nvSpPr>
          <p:spPr>
            <a:xfrm>
              <a:off x="13571640" y="6221880"/>
              <a:ext cx="3544920" cy="3386160"/>
            </a:xfrm>
            <a:custGeom>
              <a:avLst/>
              <a:gdLst>
                <a:gd name="textAreaLeft" fmla="*/ 0 w 3544920"/>
                <a:gd name="textAreaRight" fmla="*/ 3545280 w 3544920"/>
                <a:gd name="textAreaTop" fmla="*/ 0 h 3386160"/>
                <a:gd name="textAreaBottom" fmla="*/ 3386520 h 3386160"/>
              </a:gdLst>
              <a:ahLst/>
              <a:rect l="textAreaLeft" t="textAreaTop" r="textAreaRight" b="textAreaBottom"/>
              <a:pathLst>
                <a:path w="933781" h="891935">
                  <a:moveTo>
                    <a:pt x="24020" y="0"/>
                  </a:moveTo>
                  <a:lnTo>
                    <a:pt x="909761" y="0"/>
                  </a:lnTo>
                  <a:cubicBezTo>
                    <a:pt x="923027" y="0"/>
                    <a:pt x="933781" y="10754"/>
                    <a:pt x="933781" y="24020"/>
                  </a:cubicBezTo>
                  <a:lnTo>
                    <a:pt x="933781" y="867915"/>
                  </a:lnTo>
                  <a:cubicBezTo>
                    <a:pt x="933781" y="874286"/>
                    <a:pt x="931250" y="880395"/>
                    <a:pt x="926746" y="884900"/>
                  </a:cubicBezTo>
                  <a:cubicBezTo>
                    <a:pt x="922241" y="889405"/>
                    <a:pt x="916132" y="891935"/>
                    <a:pt x="909761" y="891935"/>
                  </a:cubicBezTo>
                  <a:lnTo>
                    <a:pt x="24020" y="891935"/>
                  </a:lnTo>
                  <a:cubicBezTo>
                    <a:pt x="10754" y="891935"/>
                    <a:pt x="0" y="881181"/>
                    <a:pt x="0" y="867915"/>
                  </a:cubicBezTo>
                  <a:lnTo>
                    <a:pt x="0" y="24020"/>
                  </a:lnTo>
                  <a:cubicBezTo>
                    <a:pt x="0" y="17649"/>
                    <a:pt x="2531" y="11540"/>
                    <a:pt x="7035" y="7035"/>
                  </a:cubicBezTo>
                  <a:cubicBezTo>
                    <a:pt x="11540" y="2531"/>
                    <a:pt x="17649" y="0"/>
                    <a:pt x="24020"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TextBox 23"/>
            <p:cNvSpPr/>
            <p:nvPr/>
          </p:nvSpPr>
          <p:spPr>
            <a:xfrm>
              <a:off x="13571640" y="6040800"/>
              <a:ext cx="3544920" cy="3566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sp>
        <p:nvSpPr>
          <p:cNvPr id="122" name="TextBox 24"/>
          <p:cNvSpPr/>
          <p:nvPr/>
        </p:nvSpPr>
        <p:spPr>
          <a:xfrm>
            <a:off x="1479600" y="7452360"/>
            <a:ext cx="3004560" cy="14990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Handles massive catalogs and high query volumes with millisecond response times</a:t>
            </a:r>
            <a:endParaRPr b="0" lang="en-US" sz="2200" spc="-1" strike="noStrike">
              <a:solidFill>
                <a:srgbClr val="ffffff"/>
              </a:solidFill>
              <a:latin typeface="Arial"/>
            </a:endParaRPr>
          </a:p>
        </p:txBody>
      </p:sp>
      <p:sp>
        <p:nvSpPr>
          <p:cNvPr id="123" name="TextBox 25"/>
          <p:cNvSpPr/>
          <p:nvPr/>
        </p:nvSpPr>
        <p:spPr>
          <a:xfrm>
            <a:off x="9753840" y="7551720"/>
            <a:ext cx="3004560" cy="119916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Provides a rich, JSON-based language to build complex ranking logic.</a:t>
            </a:r>
            <a:endParaRPr b="0" lang="en-US" sz="2200" spc="-1" strike="noStrike">
              <a:solidFill>
                <a:srgbClr val="ffffff"/>
              </a:solidFill>
              <a:latin typeface="Arial"/>
            </a:endParaRPr>
          </a:p>
        </p:txBody>
      </p:sp>
      <p:sp>
        <p:nvSpPr>
          <p:cNvPr id="124" name="TextBox 26"/>
          <p:cNvSpPr/>
          <p:nvPr/>
        </p:nvSpPr>
        <p:spPr>
          <a:xfrm>
            <a:off x="5597280" y="7445520"/>
            <a:ext cx="3004560" cy="14990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Understands user queries, handling typos, synonyms, and language-specific nuances</a:t>
            </a:r>
            <a:endParaRPr b="0" lang="en-US" sz="2200" spc="-1" strike="noStrike">
              <a:solidFill>
                <a:srgbClr val="ffffff"/>
              </a:solidFill>
              <a:latin typeface="Arial"/>
            </a:endParaRPr>
          </a:p>
        </p:txBody>
      </p:sp>
      <p:sp>
        <p:nvSpPr>
          <p:cNvPr id="125" name="TextBox 27"/>
          <p:cNvSpPr/>
          <p:nvPr/>
        </p:nvSpPr>
        <p:spPr>
          <a:xfrm>
            <a:off x="13885920" y="7466040"/>
            <a:ext cx="3004560" cy="119916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Ability to aggregate and analyze data, which can be fed back into ranking models.</a:t>
            </a:r>
            <a:endParaRPr b="0" lang="en-US" sz="2200" spc="-1" strike="noStrike">
              <a:solidFill>
                <a:srgbClr val="ffffff"/>
              </a:solidFill>
              <a:latin typeface="Arial"/>
            </a:endParaRPr>
          </a:p>
        </p:txBody>
      </p:sp>
      <p:sp>
        <p:nvSpPr>
          <p:cNvPr id="126" name="TextBox 28"/>
          <p:cNvSpPr/>
          <p:nvPr/>
        </p:nvSpPr>
        <p:spPr>
          <a:xfrm>
            <a:off x="1455840" y="6532200"/>
            <a:ext cx="2719440" cy="65988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Speed and Scalability</a:t>
            </a:r>
            <a:endParaRPr b="0" lang="en-US" sz="2090" spc="-1" strike="noStrike">
              <a:solidFill>
                <a:srgbClr val="ffffff"/>
              </a:solidFill>
              <a:latin typeface="Arial"/>
            </a:endParaRPr>
          </a:p>
        </p:txBody>
      </p:sp>
      <p:sp>
        <p:nvSpPr>
          <p:cNvPr id="127" name="TextBox 29"/>
          <p:cNvSpPr/>
          <p:nvPr/>
        </p:nvSpPr>
        <p:spPr>
          <a:xfrm>
            <a:off x="9724320" y="6532200"/>
            <a:ext cx="284868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Flexible Query DSL</a:t>
            </a:r>
            <a:endParaRPr b="0" lang="en-US" sz="2090" spc="-1" strike="noStrike">
              <a:solidFill>
                <a:srgbClr val="ffffff"/>
              </a:solidFill>
              <a:latin typeface="Arial"/>
            </a:endParaRPr>
          </a:p>
        </p:txBody>
      </p:sp>
      <p:sp>
        <p:nvSpPr>
          <p:cNvPr id="128" name="TextBox 30"/>
          <p:cNvSpPr/>
          <p:nvPr/>
        </p:nvSpPr>
        <p:spPr>
          <a:xfrm>
            <a:off x="5588280" y="6532200"/>
            <a:ext cx="2723400" cy="65988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Powerful Text Analysis</a:t>
            </a:r>
            <a:endParaRPr b="0" lang="en-US" sz="2090" spc="-1" strike="noStrike">
              <a:solidFill>
                <a:srgbClr val="ffffff"/>
              </a:solidFill>
              <a:latin typeface="Arial"/>
            </a:endParaRPr>
          </a:p>
        </p:txBody>
      </p:sp>
      <p:sp>
        <p:nvSpPr>
          <p:cNvPr id="129" name="TextBox 31"/>
          <p:cNvSpPr/>
          <p:nvPr/>
        </p:nvSpPr>
        <p:spPr>
          <a:xfrm>
            <a:off x="13856400" y="6532200"/>
            <a:ext cx="303408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Real-time Analytics</a:t>
            </a:r>
            <a:endParaRPr b="0" lang="en-US" sz="2090" spc="-1" strike="noStrike">
              <a:solidFill>
                <a:srgbClr val="ffffff"/>
              </a:solidFill>
              <a:latin typeface="Arial"/>
            </a:endParaRPr>
          </a:p>
        </p:txBody>
      </p:sp>
      <p:sp>
        <p:nvSpPr>
          <p:cNvPr id="130" name="TextBox 32"/>
          <p:cNvSpPr/>
          <p:nvPr/>
        </p:nvSpPr>
        <p:spPr>
          <a:xfrm>
            <a:off x="1983960" y="1093680"/>
            <a:ext cx="14319360" cy="1592280"/>
          </a:xfrm>
          <a:prstGeom prst="rect">
            <a:avLst/>
          </a:prstGeom>
          <a:noFill/>
          <a:ln w="0">
            <a:noFill/>
          </a:ln>
        </p:spPr>
        <p:style>
          <a:lnRef idx="0"/>
          <a:fillRef idx="0"/>
          <a:effectRef idx="0"/>
          <a:fontRef idx="minor"/>
        </p:style>
        <p:txBody>
          <a:bodyPr lIns="0" rIns="0" tIns="0" bIns="0" anchor="t">
            <a:spAutoFit/>
          </a:bodyPr>
          <a:p>
            <a:pPr algn="ctr" defTabSz="914400">
              <a:lnSpc>
                <a:spcPts val="6270"/>
              </a:lnSpc>
              <a:spcBef>
                <a:spcPts val="1191"/>
              </a:spcBef>
              <a:spcAft>
                <a:spcPts val="992"/>
              </a:spcAft>
            </a:pPr>
            <a:r>
              <a:rPr b="0" lang="en-US" sz="4480" spc="-1" strike="noStrike">
                <a:solidFill>
                  <a:srgbClr val="ffffff"/>
                </a:solidFill>
                <a:latin typeface="HK Modular"/>
                <a:ea typeface="HK Modular"/>
              </a:rPr>
              <a:t>The Role of Elasticsearch</a:t>
            </a:r>
            <a:br>
              <a:rPr sz="4480"/>
            </a:br>
            <a:r>
              <a:rPr b="1" lang="en-US" sz="4480" spc="-1" strike="noStrike">
                <a:solidFill>
                  <a:srgbClr val="ffffff"/>
                </a:solidFill>
                <a:latin typeface="HK Modular"/>
                <a:ea typeface="HK Modular"/>
              </a:rPr>
              <a:t> More Than Just a Search Box</a:t>
            </a:r>
            <a:endParaRPr b="0" lang="en-US" sz="44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sp>
        <p:nvSpPr>
          <p:cNvPr id="131" name="Freeform 2"/>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2" name="Freeform 3"/>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133" name="Group 4"/>
          <p:cNvGrpSpPr/>
          <p:nvPr/>
        </p:nvGrpSpPr>
        <p:grpSpPr>
          <a:xfrm>
            <a:off x="1199520" y="5271480"/>
            <a:ext cx="15888240" cy="3986280"/>
            <a:chOff x="1199520" y="5271480"/>
            <a:chExt cx="15888240" cy="3986280"/>
          </a:xfrm>
        </p:grpSpPr>
        <p:sp>
          <p:nvSpPr>
            <p:cNvPr id="134" name="Freeform 5"/>
            <p:cNvSpPr/>
            <p:nvPr/>
          </p:nvSpPr>
          <p:spPr>
            <a:xfrm>
              <a:off x="1199520" y="5452200"/>
              <a:ext cx="15888240" cy="3805560"/>
            </a:xfrm>
            <a:custGeom>
              <a:avLst/>
              <a:gdLst>
                <a:gd name="textAreaLeft" fmla="*/ 0 w 15888240"/>
                <a:gd name="textAreaRight" fmla="*/ 15888600 w 15888240"/>
                <a:gd name="textAreaTop" fmla="*/ 0 h 3805560"/>
                <a:gd name="textAreaBottom" fmla="*/ 3805920 h 3805560"/>
              </a:gdLst>
              <a:ahLst/>
              <a:rect l="textAreaLeft" t="textAreaTop" r="textAreaRight" b="textAreaBottom"/>
              <a:pathLst>
                <a:path w="4184669" h="1002394">
                  <a:moveTo>
                    <a:pt x="5360" y="0"/>
                  </a:moveTo>
                  <a:lnTo>
                    <a:pt x="4179310" y="0"/>
                  </a:lnTo>
                  <a:cubicBezTo>
                    <a:pt x="4182270" y="0"/>
                    <a:pt x="4184669" y="2400"/>
                    <a:pt x="4184669" y="5360"/>
                  </a:cubicBezTo>
                  <a:lnTo>
                    <a:pt x="4184669" y="997034"/>
                  </a:lnTo>
                  <a:cubicBezTo>
                    <a:pt x="4184669" y="999994"/>
                    <a:pt x="4182270" y="1002394"/>
                    <a:pt x="4179310" y="1002394"/>
                  </a:cubicBezTo>
                  <a:lnTo>
                    <a:pt x="5360" y="1002394"/>
                  </a:lnTo>
                  <a:cubicBezTo>
                    <a:pt x="2400" y="1002394"/>
                    <a:pt x="0" y="999994"/>
                    <a:pt x="0" y="997034"/>
                  </a:cubicBezTo>
                  <a:lnTo>
                    <a:pt x="0" y="5360"/>
                  </a:lnTo>
                  <a:cubicBezTo>
                    <a:pt x="0" y="2400"/>
                    <a:pt x="2400" y="0"/>
                    <a:pt x="5360"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 name="TextBox 6"/>
            <p:cNvSpPr/>
            <p:nvPr/>
          </p:nvSpPr>
          <p:spPr>
            <a:xfrm>
              <a:off x="1199520" y="5271480"/>
              <a:ext cx="15888240" cy="3986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36" name="Group 7"/>
          <p:cNvGrpSpPr/>
          <p:nvPr/>
        </p:nvGrpSpPr>
        <p:grpSpPr>
          <a:xfrm>
            <a:off x="1199520" y="1394280"/>
            <a:ext cx="7010280" cy="3072600"/>
            <a:chOff x="1199520" y="1394280"/>
            <a:chExt cx="7010280" cy="3072600"/>
          </a:xfrm>
        </p:grpSpPr>
        <p:sp>
          <p:nvSpPr>
            <p:cNvPr id="137" name="Freeform 8"/>
            <p:cNvSpPr/>
            <p:nvPr/>
          </p:nvSpPr>
          <p:spPr>
            <a:xfrm>
              <a:off x="1199520" y="1575000"/>
              <a:ext cx="7009920" cy="2891520"/>
            </a:xfrm>
            <a:custGeom>
              <a:avLst/>
              <a:gdLst>
                <a:gd name="textAreaLeft" fmla="*/ 0 w 7009920"/>
                <a:gd name="textAreaRight" fmla="*/ 7010280 w 7009920"/>
                <a:gd name="textAreaTop" fmla="*/ 0 h 2891520"/>
                <a:gd name="textAreaBottom" fmla="*/ 2891880 h 2891520"/>
              </a:gdLst>
              <a:ahLst/>
              <a:rect l="textAreaLeft" t="textAreaTop" r="textAreaRight" b="textAreaBottom"/>
              <a:pathLst>
                <a:path w="1846376" h="761669">
                  <a:moveTo>
                    <a:pt x="12148" y="0"/>
                  </a:moveTo>
                  <a:lnTo>
                    <a:pt x="1834229" y="0"/>
                  </a:lnTo>
                  <a:cubicBezTo>
                    <a:pt x="1840938" y="0"/>
                    <a:pt x="1846376" y="5439"/>
                    <a:pt x="1846376" y="12148"/>
                  </a:cubicBezTo>
                  <a:lnTo>
                    <a:pt x="1846376" y="749521"/>
                  </a:lnTo>
                  <a:cubicBezTo>
                    <a:pt x="1846376" y="756230"/>
                    <a:pt x="1840938" y="761669"/>
                    <a:pt x="1834229" y="761669"/>
                  </a:cubicBezTo>
                  <a:lnTo>
                    <a:pt x="12148" y="761669"/>
                  </a:lnTo>
                  <a:cubicBezTo>
                    <a:pt x="5439" y="761669"/>
                    <a:pt x="0" y="756230"/>
                    <a:pt x="0" y="749521"/>
                  </a:cubicBezTo>
                  <a:lnTo>
                    <a:pt x="0" y="12148"/>
                  </a:lnTo>
                  <a:cubicBezTo>
                    <a:pt x="0" y="5439"/>
                    <a:pt x="5439" y="0"/>
                    <a:pt x="121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8" name="TextBox 9"/>
            <p:cNvSpPr/>
            <p:nvPr/>
          </p:nvSpPr>
          <p:spPr>
            <a:xfrm>
              <a:off x="1199520" y="1394280"/>
              <a:ext cx="7010280" cy="30726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39" name="Group 10"/>
          <p:cNvGrpSpPr/>
          <p:nvPr/>
        </p:nvGrpSpPr>
        <p:grpSpPr>
          <a:xfrm>
            <a:off x="1383840" y="1418760"/>
            <a:ext cx="6982920" cy="2884680"/>
            <a:chOff x="1383840" y="1418760"/>
            <a:chExt cx="6982920" cy="2884680"/>
          </a:xfrm>
        </p:grpSpPr>
        <p:sp>
          <p:nvSpPr>
            <p:cNvPr id="140" name="Freeform 11"/>
            <p:cNvSpPr/>
            <p:nvPr/>
          </p:nvSpPr>
          <p:spPr>
            <a:xfrm>
              <a:off x="1383840" y="1418760"/>
              <a:ext cx="6982920" cy="2884680"/>
            </a:xfrm>
            <a:custGeom>
              <a:avLst/>
              <a:gdLst>
                <a:gd name="textAreaLeft" fmla="*/ 0 w 6982920"/>
                <a:gd name="textAreaRight" fmla="*/ 6983280 w 6982920"/>
                <a:gd name="textAreaTop" fmla="*/ 0 h 2884680"/>
                <a:gd name="textAreaBottom" fmla="*/ 2885040 h 2884680"/>
              </a:gdLst>
              <a:ahLst/>
              <a:rect l="textAreaLeft" t="textAreaTop" r="textAreaRight" b="textAreaBottom"/>
              <a:pathLst>
                <a:path w="1081913" h="446948">
                  <a:moveTo>
                    <a:pt x="8869" y="0"/>
                  </a:moveTo>
                  <a:lnTo>
                    <a:pt x="1073044" y="0"/>
                  </a:lnTo>
                  <a:cubicBezTo>
                    <a:pt x="1077942" y="0"/>
                    <a:pt x="1081913" y="3971"/>
                    <a:pt x="1081913" y="8869"/>
                  </a:cubicBezTo>
                  <a:lnTo>
                    <a:pt x="1081913" y="438079"/>
                  </a:lnTo>
                  <a:cubicBezTo>
                    <a:pt x="1081913" y="440431"/>
                    <a:pt x="1080979" y="442687"/>
                    <a:pt x="1079315" y="444350"/>
                  </a:cubicBezTo>
                  <a:cubicBezTo>
                    <a:pt x="1077652" y="446013"/>
                    <a:pt x="1075396" y="446948"/>
                    <a:pt x="1073044" y="446948"/>
                  </a:cubicBezTo>
                  <a:lnTo>
                    <a:pt x="8869" y="446948"/>
                  </a:lnTo>
                  <a:cubicBezTo>
                    <a:pt x="3971" y="446948"/>
                    <a:pt x="0" y="442977"/>
                    <a:pt x="0" y="438079"/>
                  </a:cubicBezTo>
                  <a:lnTo>
                    <a:pt x="0" y="8869"/>
                  </a:lnTo>
                  <a:cubicBezTo>
                    <a:pt x="0" y="3971"/>
                    <a:pt x="3971" y="0"/>
                    <a:pt x="8869"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41" name="TextBox 12"/>
          <p:cNvSpPr/>
          <p:nvPr/>
        </p:nvSpPr>
        <p:spPr>
          <a:xfrm>
            <a:off x="1918080" y="8304480"/>
            <a:ext cx="4450680" cy="95328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0" lang="en-US" sz="2200" spc="-1" strike="noStrike">
                <a:solidFill>
                  <a:srgbClr val="ffffff"/>
                </a:solidFill>
                <a:latin typeface="Mukta Light"/>
                <a:ea typeface="Mukta Light"/>
              </a:rPr>
              <a:t>How often does the search term appear in the product's description?</a:t>
            </a:r>
            <a:endParaRPr b="0" lang="en-US" sz="2200" spc="-1" strike="noStrike">
              <a:solidFill>
                <a:srgbClr val="ffffff"/>
              </a:solidFill>
              <a:latin typeface="Arial"/>
            </a:endParaRPr>
          </a:p>
        </p:txBody>
      </p:sp>
      <p:sp>
        <p:nvSpPr>
          <p:cNvPr id="142" name="TextBox 13"/>
          <p:cNvSpPr/>
          <p:nvPr/>
        </p:nvSpPr>
        <p:spPr>
          <a:xfrm>
            <a:off x="6907320" y="8280000"/>
            <a:ext cx="4450680" cy="63540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0" lang="en-US" sz="2200" spc="-1" strike="noStrike">
                <a:solidFill>
                  <a:srgbClr val="ffffff"/>
                </a:solidFill>
                <a:latin typeface="Mukta Light"/>
                <a:ea typeface="Mukta Light"/>
              </a:rPr>
              <a:t>How rare is the term across all products? </a:t>
            </a:r>
            <a:endParaRPr b="0" lang="en-US" sz="2200" spc="-1" strike="noStrike">
              <a:solidFill>
                <a:srgbClr val="ffffff"/>
              </a:solidFill>
              <a:latin typeface="Arial"/>
            </a:endParaRPr>
          </a:p>
        </p:txBody>
      </p:sp>
      <p:sp>
        <p:nvSpPr>
          <p:cNvPr id="143" name="TextBox 15"/>
          <p:cNvSpPr/>
          <p:nvPr/>
        </p:nvSpPr>
        <p:spPr>
          <a:xfrm>
            <a:off x="1910520" y="7860600"/>
            <a:ext cx="5000040" cy="369000"/>
          </a:xfrm>
          <a:prstGeom prst="rect">
            <a:avLst/>
          </a:prstGeom>
          <a:noFill/>
          <a:ln w="0">
            <a:noFill/>
          </a:ln>
        </p:spPr>
        <p:style>
          <a:lnRef idx="0"/>
          <a:fillRef idx="0"/>
          <a:effectRef idx="0"/>
          <a:fontRef idx="minor"/>
        </p:style>
        <p:txBody>
          <a:bodyPr lIns="0" rIns="0" tIns="0" bIns="0" anchor="t">
            <a:spAutoFit/>
          </a:bodyPr>
          <a:p>
            <a:pPr defTabSz="914400">
              <a:lnSpc>
                <a:spcPts val="2908"/>
              </a:lnSpc>
              <a:spcBef>
                <a:spcPts val="1191"/>
              </a:spcBef>
              <a:spcAft>
                <a:spcPts val="992"/>
              </a:spcAft>
            </a:pPr>
            <a:r>
              <a:rPr b="1" lang="en-US" sz="2340" spc="-1" strike="noStrike">
                <a:solidFill>
                  <a:srgbClr val="ffffff"/>
                </a:solidFill>
                <a:latin typeface="Mina Bold"/>
                <a:ea typeface="Mina Bold"/>
              </a:rPr>
              <a:t>Term Frequency (TF)</a:t>
            </a:r>
            <a:endParaRPr b="0" lang="en-US" sz="2340" spc="-1" strike="noStrike">
              <a:solidFill>
                <a:srgbClr val="ffffff"/>
              </a:solidFill>
              <a:latin typeface="Arial"/>
            </a:endParaRPr>
          </a:p>
        </p:txBody>
      </p:sp>
      <p:sp>
        <p:nvSpPr>
          <p:cNvPr id="144" name="TextBox 16"/>
          <p:cNvSpPr/>
          <p:nvPr/>
        </p:nvSpPr>
        <p:spPr>
          <a:xfrm>
            <a:off x="6910920" y="7860600"/>
            <a:ext cx="5662080" cy="369720"/>
          </a:xfrm>
          <a:prstGeom prst="rect">
            <a:avLst/>
          </a:prstGeom>
          <a:noFill/>
          <a:ln w="0">
            <a:noFill/>
          </a:ln>
        </p:spPr>
        <p:style>
          <a:lnRef idx="0"/>
          <a:fillRef idx="0"/>
          <a:effectRef idx="0"/>
          <a:fontRef idx="minor"/>
        </p:style>
        <p:txBody>
          <a:bodyPr lIns="0" rIns="0" tIns="0" bIns="0" anchor="t">
            <a:spAutoFit/>
          </a:bodyPr>
          <a:p>
            <a:pPr defTabSz="914400">
              <a:lnSpc>
                <a:spcPts val="2908"/>
              </a:lnSpc>
              <a:spcBef>
                <a:spcPts val="1191"/>
              </a:spcBef>
              <a:spcAft>
                <a:spcPts val="992"/>
              </a:spcAft>
            </a:pPr>
            <a:r>
              <a:rPr b="1" lang="en-US" sz="2340" spc="-1" strike="noStrike">
                <a:solidFill>
                  <a:srgbClr val="ffffff"/>
                </a:solidFill>
                <a:latin typeface="Mina Bold"/>
                <a:ea typeface="Mina Bold"/>
              </a:rPr>
              <a:t>Inverse Document Frequency (IDF)</a:t>
            </a:r>
            <a:endParaRPr b="0" lang="en-US" sz="2340" spc="-1" strike="noStrike">
              <a:solidFill>
                <a:srgbClr val="ffffff"/>
              </a:solidFill>
              <a:latin typeface="Arial"/>
            </a:endParaRPr>
          </a:p>
        </p:txBody>
      </p:sp>
      <p:sp>
        <p:nvSpPr>
          <p:cNvPr id="145" name="TextBox 18"/>
          <p:cNvSpPr/>
          <p:nvPr/>
        </p:nvSpPr>
        <p:spPr>
          <a:xfrm>
            <a:off x="1918080" y="7247160"/>
            <a:ext cx="562320" cy="521640"/>
          </a:xfrm>
          <a:prstGeom prst="rect">
            <a:avLst/>
          </a:prstGeom>
          <a:noFill/>
          <a:ln w="0">
            <a:noFill/>
          </a:ln>
        </p:spPr>
        <p:style>
          <a:lnRef idx="0"/>
          <a:fillRef idx="0"/>
          <a:effectRef idx="0"/>
          <a:fontRef idx="minor"/>
        </p:style>
        <p:txBody>
          <a:bodyPr lIns="0" rIns="0" tIns="0" bIns="0" anchor="t">
            <a:spAutoFit/>
          </a:bodyPr>
          <a:p>
            <a:pPr defTabSz="914400">
              <a:lnSpc>
                <a:spcPts val="4110"/>
              </a:lnSpc>
            </a:pPr>
            <a:r>
              <a:rPr b="0" lang="en-US" sz="3309" spc="-1" strike="noStrike">
                <a:solidFill>
                  <a:srgbClr val="ca4ad1"/>
                </a:solidFill>
                <a:latin typeface="Mina"/>
                <a:ea typeface="Mina"/>
              </a:rPr>
              <a:t>01</a:t>
            </a:r>
            <a:endParaRPr b="0" lang="en-US" sz="3309" spc="-1" strike="noStrike">
              <a:solidFill>
                <a:srgbClr val="ffffff"/>
              </a:solidFill>
              <a:latin typeface="Arial"/>
            </a:endParaRPr>
          </a:p>
        </p:txBody>
      </p:sp>
      <p:sp>
        <p:nvSpPr>
          <p:cNvPr id="146" name="TextBox 19"/>
          <p:cNvSpPr/>
          <p:nvPr/>
        </p:nvSpPr>
        <p:spPr>
          <a:xfrm>
            <a:off x="6918480" y="7247160"/>
            <a:ext cx="562320" cy="521640"/>
          </a:xfrm>
          <a:prstGeom prst="rect">
            <a:avLst/>
          </a:prstGeom>
          <a:noFill/>
          <a:ln w="0">
            <a:noFill/>
          </a:ln>
        </p:spPr>
        <p:style>
          <a:lnRef idx="0"/>
          <a:fillRef idx="0"/>
          <a:effectRef idx="0"/>
          <a:fontRef idx="minor"/>
        </p:style>
        <p:txBody>
          <a:bodyPr lIns="0" rIns="0" tIns="0" bIns="0" anchor="t">
            <a:spAutoFit/>
          </a:bodyPr>
          <a:p>
            <a:pPr defTabSz="914400">
              <a:lnSpc>
                <a:spcPts val="4110"/>
              </a:lnSpc>
            </a:pPr>
            <a:r>
              <a:rPr b="0" lang="en-US" sz="3309" spc="-1" strike="noStrike">
                <a:solidFill>
                  <a:srgbClr val="ca4ad1"/>
                </a:solidFill>
                <a:latin typeface="Mina"/>
                <a:ea typeface="Mina"/>
              </a:rPr>
              <a:t>02</a:t>
            </a:r>
            <a:endParaRPr b="0" lang="en-US" sz="3309" spc="-1" strike="noStrike">
              <a:solidFill>
                <a:srgbClr val="ffffff"/>
              </a:solidFill>
              <a:latin typeface="Arial"/>
            </a:endParaRPr>
          </a:p>
        </p:txBody>
      </p:sp>
      <p:sp>
        <p:nvSpPr>
          <p:cNvPr id="147" name="TextBox 21"/>
          <p:cNvSpPr/>
          <p:nvPr/>
        </p:nvSpPr>
        <p:spPr>
          <a:xfrm>
            <a:off x="8793360" y="1323360"/>
            <a:ext cx="8294760" cy="1593000"/>
          </a:xfrm>
          <a:prstGeom prst="rect">
            <a:avLst/>
          </a:prstGeom>
          <a:noFill/>
          <a:ln w="0">
            <a:noFill/>
          </a:ln>
        </p:spPr>
        <p:style>
          <a:lnRef idx="0"/>
          <a:fillRef idx="0"/>
          <a:effectRef idx="0"/>
          <a:fontRef idx="minor"/>
        </p:style>
        <p:txBody>
          <a:bodyPr lIns="0" rIns="0" tIns="0" bIns="0" anchor="t">
            <a:spAutoFit/>
          </a:bodyPr>
          <a:p>
            <a:pPr defTabSz="914400">
              <a:lnSpc>
                <a:spcPts val="6270"/>
              </a:lnSpc>
              <a:spcBef>
                <a:spcPts val="1191"/>
              </a:spcBef>
              <a:spcAft>
                <a:spcPts val="992"/>
              </a:spcAft>
            </a:pPr>
            <a:r>
              <a:rPr b="0" lang="en-US" sz="4480" spc="-1" strike="noStrike">
                <a:solidFill>
                  <a:srgbClr val="ffffff"/>
                </a:solidFill>
                <a:latin typeface="HK Modular"/>
                <a:ea typeface="HK Modular"/>
              </a:rPr>
              <a:t>Core Ranking: </a:t>
            </a:r>
            <a:br>
              <a:rPr sz="4480"/>
            </a:br>
            <a:r>
              <a:rPr b="0" lang="en-US" sz="4480" spc="-1" strike="noStrike">
                <a:solidFill>
                  <a:srgbClr val="ffffff"/>
                </a:solidFill>
                <a:latin typeface="HK Modular"/>
                <a:ea typeface="HK Modular"/>
              </a:rPr>
              <a:t>Text Relevance with BM25</a:t>
            </a:r>
            <a:endParaRPr b="0" lang="en-US" sz="4480" spc="-1" strike="noStrike">
              <a:solidFill>
                <a:srgbClr val="ffffff"/>
              </a:solidFill>
              <a:latin typeface="Arial"/>
            </a:endParaRPr>
          </a:p>
        </p:txBody>
      </p:sp>
      <p:sp>
        <p:nvSpPr>
          <p:cNvPr id="148" name="TextBox 47"/>
          <p:cNvSpPr/>
          <p:nvPr/>
        </p:nvSpPr>
        <p:spPr>
          <a:xfrm>
            <a:off x="1535040" y="5452200"/>
            <a:ext cx="8294760" cy="796680"/>
          </a:xfrm>
          <a:prstGeom prst="rect">
            <a:avLst/>
          </a:prstGeom>
          <a:noFill/>
          <a:ln w="0">
            <a:noFill/>
          </a:ln>
        </p:spPr>
        <p:style>
          <a:lnRef idx="0"/>
          <a:fillRef idx="0"/>
          <a:effectRef idx="0"/>
          <a:fontRef idx="minor"/>
        </p:style>
        <p:txBody>
          <a:bodyPr lIns="0" rIns="0" tIns="0" bIns="0" anchor="t">
            <a:spAutoFit/>
          </a:bodyPr>
          <a:p>
            <a:pPr defTabSz="914400">
              <a:lnSpc>
                <a:spcPts val="6270"/>
              </a:lnSpc>
              <a:spcBef>
                <a:spcPts val="1191"/>
              </a:spcBef>
              <a:spcAft>
                <a:spcPts val="992"/>
              </a:spcAft>
            </a:pPr>
            <a:r>
              <a:rPr b="0" lang="en-US" sz="2600" spc="-1" strike="noStrike">
                <a:solidFill>
                  <a:srgbClr val="ffffff"/>
                </a:solidFill>
                <a:latin typeface="HK Modular"/>
                <a:ea typeface="HK Modular"/>
              </a:rPr>
              <a:t>BM25 (Best Match 25)</a:t>
            </a:r>
            <a:endParaRPr b="0" lang="en-US" sz="2600" spc="-1" strike="noStrike">
              <a:solidFill>
                <a:srgbClr val="ffffff"/>
              </a:solidFill>
              <a:latin typeface="Arial"/>
            </a:endParaRPr>
          </a:p>
        </p:txBody>
      </p:sp>
      <p:sp>
        <p:nvSpPr>
          <p:cNvPr id="149" name=""/>
          <p:cNvSpPr txBox="1"/>
          <p:nvPr/>
        </p:nvSpPr>
        <p:spPr>
          <a:xfrm>
            <a:off x="1478880" y="6400800"/>
            <a:ext cx="13608720" cy="685800"/>
          </a:xfrm>
          <a:prstGeom prst="rect">
            <a:avLst/>
          </a:prstGeom>
          <a:noFill/>
          <a:ln w="0">
            <a:noFill/>
          </a:ln>
        </p:spPr>
        <p:txBody>
          <a:bodyPr lIns="90000" rIns="90000" tIns="45000" bIns="45000" anchor="t">
            <a:noAutofit/>
          </a:bodyPr>
          <a:p>
            <a:r>
              <a:rPr b="0" lang="en-US" sz="2200" spc="-1" strike="noStrike">
                <a:solidFill>
                  <a:srgbClr val="ffffff"/>
                </a:solidFill>
                <a:latin typeface="Arial"/>
              </a:rPr>
              <a:t>The modern default algorithm for scoring text relevance in Elasticsearch.</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sp>
        <p:nvSpPr>
          <p:cNvPr id="150" name="Freeform 1"/>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 name="Freeform 4"/>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152" name="Group 1"/>
          <p:cNvGrpSpPr/>
          <p:nvPr/>
        </p:nvGrpSpPr>
        <p:grpSpPr>
          <a:xfrm>
            <a:off x="1199520" y="5271480"/>
            <a:ext cx="15888240" cy="3986280"/>
            <a:chOff x="1199520" y="5271480"/>
            <a:chExt cx="15888240" cy="3986280"/>
          </a:xfrm>
        </p:grpSpPr>
        <p:sp>
          <p:nvSpPr>
            <p:cNvPr id="153" name="Freeform 10"/>
            <p:cNvSpPr/>
            <p:nvPr/>
          </p:nvSpPr>
          <p:spPr>
            <a:xfrm>
              <a:off x="1199520" y="5452200"/>
              <a:ext cx="15888240" cy="3805560"/>
            </a:xfrm>
            <a:custGeom>
              <a:avLst/>
              <a:gdLst>
                <a:gd name="textAreaLeft" fmla="*/ 0 w 15888240"/>
                <a:gd name="textAreaRight" fmla="*/ 15888600 w 15888240"/>
                <a:gd name="textAreaTop" fmla="*/ 0 h 3805560"/>
                <a:gd name="textAreaBottom" fmla="*/ 3805920 h 3805560"/>
              </a:gdLst>
              <a:ahLst/>
              <a:rect l="textAreaLeft" t="textAreaTop" r="textAreaRight" b="textAreaBottom"/>
              <a:pathLst>
                <a:path w="4184669" h="1002394">
                  <a:moveTo>
                    <a:pt x="5360" y="0"/>
                  </a:moveTo>
                  <a:lnTo>
                    <a:pt x="4179310" y="0"/>
                  </a:lnTo>
                  <a:cubicBezTo>
                    <a:pt x="4182270" y="0"/>
                    <a:pt x="4184669" y="2400"/>
                    <a:pt x="4184669" y="5360"/>
                  </a:cubicBezTo>
                  <a:lnTo>
                    <a:pt x="4184669" y="997034"/>
                  </a:lnTo>
                  <a:cubicBezTo>
                    <a:pt x="4184669" y="999994"/>
                    <a:pt x="4182270" y="1002394"/>
                    <a:pt x="4179310" y="1002394"/>
                  </a:cubicBezTo>
                  <a:lnTo>
                    <a:pt x="5360" y="1002394"/>
                  </a:lnTo>
                  <a:cubicBezTo>
                    <a:pt x="2400" y="1002394"/>
                    <a:pt x="0" y="999994"/>
                    <a:pt x="0" y="997034"/>
                  </a:cubicBezTo>
                  <a:lnTo>
                    <a:pt x="0" y="5360"/>
                  </a:lnTo>
                  <a:cubicBezTo>
                    <a:pt x="0" y="2400"/>
                    <a:pt x="2400" y="0"/>
                    <a:pt x="5360"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TextBox 48"/>
            <p:cNvSpPr/>
            <p:nvPr/>
          </p:nvSpPr>
          <p:spPr>
            <a:xfrm>
              <a:off x="1199520" y="5271480"/>
              <a:ext cx="15888240" cy="398628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155" name="Group 3"/>
          <p:cNvGrpSpPr/>
          <p:nvPr/>
        </p:nvGrpSpPr>
        <p:grpSpPr>
          <a:xfrm>
            <a:off x="1199520" y="1394280"/>
            <a:ext cx="7010280" cy="3072600"/>
            <a:chOff x="1199520" y="1394280"/>
            <a:chExt cx="7010280" cy="3072600"/>
          </a:xfrm>
        </p:grpSpPr>
        <p:sp>
          <p:nvSpPr>
            <p:cNvPr id="156" name="Freeform 14"/>
            <p:cNvSpPr/>
            <p:nvPr/>
          </p:nvSpPr>
          <p:spPr>
            <a:xfrm>
              <a:off x="1199520" y="1575000"/>
              <a:ext cx="7009920" cy="2891520"/>
            </a:xfrm>
            <a:custGeom>
              <a:avLst/>
              <a:gdLst>
                <a:gd name="textAreaLeft" fmla="*/ 0 w 7009920"/>
                <a:gd name="textAreaRight" fmla="*/ 7010280 w 7009920"/>
                <a:gd name="textAreaTop" fmla="*/ 0 h 2891520"/>
                <a:gd name="textAreaBottom" fmla="*/ 2891880 h 2891520"/>
              </a:gdLst>
              <a:ahLst/>
              <a:rect l="textAreaLeft" t="textAreaTop" r="textAreaRight" b="textAreaBottom"/>
              <a:pathLst>
                <a:path w="1846376" h="761669">
                  <a:moveTo>
                    <a:pt x="12148" y="0"/>
                  </a:moveTo>
                  <a:lnTo>
                    <a:pt x="1834229" y="0"/>
                  </a:lnTo>
                  <a:cubicBezTo>
                    <a:pt x="1840938" y="0"/>
                    <a:pt x="1846376" y="5439"/>
                    <a:pt x="1846376" y="12148"/>
                  </a:cubicBezTo>
                  <a:lnTo>
                    <a:pt x="1846376" y="749521"/>
                  </a:lnTo>
                  <a:cubicBezTo>
                    <a:pt x="1846376" y="756230"/>
                    <a:pt x="1840938" y="761669"/>
                    <a:pt x="1834229" y="761669"/>
                  </a:cubicBezTo>
                  <a:lnTo>
                    <a:pt x="12148" y="761669"/>
                  </a:lnTo>
                  <a:cubicBezTo>
                    <a:pt x="5439" y="761669"/>
                    <a:pt x="0" y="756230"/>
                    <a:pt x="0" y="749521"/>
                  </a:cubicBezTo>
                  <a:lnTo>
                    <a:pt x="0" y="12148"/>
                  </a:lnTo>
                  <a:cubicBezTo>
                    <a:pt x="0" y="5439"/>
                    <a:pt x="5439" y="0"/>
                    <a:pt x="121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TextBox 49"/>
            <p:cNvSpPr/>
            <p:nvPr/>
          </p:nvSpPr>
          <p:spPr>
            <a:xfrm>
              <a:off x="1199520" y="1394280"/>
              <a:ext cx="7010280" cy="307260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158" name="Group 9"/>
          <p:cNvGrpSpPr/>
          <p:nvPr/>
        </p:nvGrpSpPr>
        <p:grpSpPr>
          <a:xfrm>
            <a:off x="1383840" y="1418760"/>
            <a:ext cx="6982920" cy="2884680"/>
            <a:chOff x="1383840" y="1418760"/>
            <a:chExt cx="6982920" cy="2884680"/>
          </a:xfrm>
        </p:grpSpPr>
        <p:sp>
          <p:nvSpPr>
            <p:cNvPr id="159" name="Freeform 17"/>
            <p:cNvSpPr/>
            <p:nvPr/>
          </p:nvSpPr>
          <p:spPr>
            <a:xfrm>
              <a:off x="1383840" y="1418760"/>
              <a:ext cx="6982920" cy="2884680"/>
            </a:xfrm>
            <a:custGeom>
              <a:avLst/>
              <a:gdLst>
                <a:gd name="textAreaLeft" fmla="*/ 0 w 6982920"/>
                <a:gd name="textAreaRight" fmla="*/ 6983280 w 6982920"/>
                <a:gd name="textAreaTop" fmla="*/ 0 h 2884680"/>
                <a:gd name="textAreaBottom" fmla="*/ 2885040 h 2884680"/>
              </a:gdLst>
              <a:ahLst/>
              <a:rect l="textAreaLeft" t="textAreaTop" r="textAreaRight" b="textAreaBottom"/>
              <a:pathLst>
                <a:path w="1081913" h="446948">
                  <a:moveTo>
                    <a:pt x="8869" y="0"/>
                  </a:moveTo>
                  <a:lnTo>
                    <a:pt x="1073044" y="0"/>
                  </a:lnTo>
                  <a:cubicBezTo>
                    <a:pt x="1077942" y="0"/>
                    <a:pt x="1081913" y="3971"/>
                    <a:pt x="1081913" y="8869"/>
                  </a:cubicBezTo>
                  <a:lnTo>
                    <a:pt x="1081913" y="438079"/>
                  </a:lnTo>
                  <a:cubicBezTo>
                    <a:pt x="1081913" y="440431"/>
                    <a:pt x="1080979" y="442687"/>
                    <a:pt x="1079315" y="444350"/>
                  </a:cubicBezTo>
                  <a:cubicBezTo>
                    <a:pt x="1077652" y="446013"/>
                    <a:pt x="1075396" y="446948"/>
                    <a:pt x="1073044" y="446948"/>
                  </a:cubicBezTo>
                  <a:lnTo>
                    <a:pt x="8869" y="446948"/>
                  </a:lnTo>
                  <a:cubicBezTo>
                    <a:pt x="3971" y="446948"/>
                    <a:pt x="0" y="442977"/>
                    <a:pt x="0" y="438079"/>
                  </a:cubicBezTo>
                  <a:lnTo>
                    <a:pt x="0" y="8869"/>
                  </a:lnTo>
                  <a:cubicBezTo>
                    <a:pt x="0" y="3971"/>
                    <a:pt x="3971" y="0"/>
                    <a:pt x="8869"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60" name="TextBox 54"/>
          <p:cNvSpPr/>
          <p:nvPr/>
        </p:nvSpPr>
        <p:spPr>
          <a:xfrm>
            <a:off x="1702080" y="6671160"/>
            <a:ext cx="2653920" cy="522360"/>
          </a:xfrm>
          <a:prstGeom prst="rect">
            <a:avLst/>
          </a:prstGeom>
          <a:noFill/>
          <a:ln w="0">
            <a:noFill/>
          </a:ln>
        </p:spPr>
        <p:style>
          <a:lnRef idx="0"/>
          <a:fillRef idx="0"/>
          <a:effectRef idx="0"/>
          <a:fontRef idx="minor"/>
        </p:style>
        <p:txBody>
          <a:bodyPr lIns="0" rIns="0" tIns="0" bIns="0" anchor="t">
            <a:spAutoFit/>
          </a:bodyPr>
          <a:p>
            <a:pPr defTabSz="914400">
              <a:lnSpc>
                <a:spcPts val="4110"/>
              </a:lnSpc>
            </a:pPr>
            <a:r>
              <a:rPr b="0" lang="en-US" sz="3309" spc="-1" strike="noStrike">
                <a:solidFill>
                  <a:srgbClr val="ca4ad1"/>
                </a:solidFill>
                <a:latin typeface="Mina"/>
                <a:ea typeface="Mina"/>
              </a:rPr>
              <a:t>Examples</a:t>
            </a:r>
            <a:endParaRPr b="0" lang="en-US" sz="3309" spc="-1" strike="noStrike">
              <a:solidFill>
                <a:srgbClr val="ffffff"/>
              </a:solidFill>
              <a:latin typeface="Arial"/>
            </a:endParaRPr>
          </a:p>
        </p:txBody>
      </p:sp>
      <p:sp>
        <p:nvSpPr>
          <p:cNvPr id="161" name="TextBox 56"/>
          <p:cNvSpPr/>
          <p:nvPr/>
        </p:nvSpPr>
        <p:spPr>
          <a:xfrm>
            <a:off x="8793360" y="1323360"/>
            <a:ext cx="8294760" cy="2388600"/>
          </a:xfrm>
          <a:prstGeom prst="rect">
            <a:avLst/>
          </a:prstGeom>
          <a:noFill/>
          <a:ln w="0">
            <a:noFill/>
          </a:ln>
        </p:spPr>
        <p:style>
          <a:lnRef idx="0"/>
          <a:fillRef idx="0"/>
          <a:effectRef idx="0"/>
          <a:fontRef idx="minor"/>
        </p:style>
        <p:txBody>
          <a:bodyPr lIns="0" rIns="0" tIns="0" bIns="0" anchor="t">
            <a:spAutoFit/>
          </a:bodyPr>
          <a:p>
            <a:pPr defTabSz="914400">
              <a:lnSpc>
                <a:spcPts val="6270"/>
              </a:lnSpc>
              <a:spcBef>
                <a:spcPts val="1191"/>
              </a:spcBef>
              <a:spcAft>
                <a:spcPts val="992"/>
              </a:spcAft>
            </a:pPr>
            <a:r>
              <a:rPr b="0" lang="en-US" sz="4800" spc="-1" strike="noStrike">
                <a:solidFill>
                  <a:srgbClr val="ffffff"/>
                </a:solidFill>
                <a:latin typeface="HK Modular"/>
                <a:ea typeface="HK Modular"/>
              </a:rPr>
              <a:t>Core Ranking: </a:t>
            </a:r>
            <a:br>
              <a:rPr sz="4800"/>
            </a:br>
            <a:r>
              <a:rPr b="0" lang="en-US" sz="4800" spc="-1" strike="noStrike">
                <a:solidFill>
                  <a:srgbClr val="ffffff"/>
                </a:solidFill>
                <a:latin typeface="HK Modular"/>
                <a:ea typeface="HK Modular"/>
              </a:rPr>
              <a:t>Simple Merchandising with Boosting</a:t>
            </a:r>
            <a:endParaRPr b="0" lang="en-US" sz="4800" spc="-1" strike="noStrike">
              <a:solidFill>
                <a:srgbClr val="ffffff"/>
              </a:solidFill>
              <a:latin typeface="Arial"/>
            </a:endParaRPr>
          </a:p>
        </p:txBody>
      </p:sp>
      <p:sp>
        <p:nvSpPr>
          <p:cNvPr id="162" name=""/>
          <p:cNvSpPr txBox="1"/>
          <p:nvPr/>
        </p:nvSpPr>
        <p:spPr>
          <a:xfrm>
            <a:off x="1478880" y="5715000"/>
            <a:ext cx="13608720" cy="715320"/>
          </a:xfrm>
          <a:prstGeom prst="rect">
            <a:avLst/>
          </a:prstGeom>
          <a:noFill/>
          <a:ln w="0">
            <a:noFill/>
          </a:ln>
        </p:spPr>
        <p:txBody>
          <a:bodyPr lIns="90000" rIns="90000" tIns="45000" bIns="45000" anchor="t">
            <a:noAutofit/>
          </a:bodyPr>
          <a:p>
            <a:r>
              <a:rPr b="0" lang="en-US" sz="2200" spc="-1" strike="noStrike">
                <a:solidFill>
                  <a:srgbClr val="ffffff"/>
                </a:solidFill>
                <a:latin typeface="Arial"/>
              </a:rPr>
              <a:t>Boosting allows you to influence the score of documents that meet certain criteria. It's the first step in applying business rules.</a:t>
            </a:r>
            <a:endParaRPr b="0" lang="en-US" sz="2200" spc="-1" strike="noStrike">
              <a:solidFill>
                <a:srgbClr val="ffffff"/>
              </a:solidFill>
              <a:latin typeface="Arial"/>
            </a:endParaRPr>
          </a:p>
        </p:txBody>
      </p:sp>
      <p:pic>
        <p:nvPicPr>
          <p:cNvPr id="163" name="" descr=""/>
          <p:cNvPicPr/>
          <p:nvPr/>
        </p:nvPicPr>
        <p:blipFill>
          <a:blip r:embed="rId6"/>
          <a:stretch/>
        </p:blipFill>
        <p:spPr>
          <a:xfrm>
            <a:off x="4572000" y="6744600"/>
            <a:ext cx="7435440" cy="23994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sp>
        <p:nvSpPr>
          <p:cNvPr id="164" name="Freeform 20"/>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5" name="Freeform 23"/>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166" name="Group 13"/>
          <p:cNvGrpSpPr/>
          <p:nvPr/>
        </p:nvGrpSpPr>
        <p:grpSpPr>
          <a:xfrm>
            <a:off x="1199520" y="5271480"/>
            <a:ext cx="7030080" cy="2043720"/>
            <a:chOff x="1199520" y="5271480"/>
            <a:chExt cx="7030080" cy="2043720"/>
          </a:xfrm>
        </p:grpSpPr>
        <p:sp>
          <p:nvSpPr>
            <p:cNvPr id="167" name="Freeform 25"/>
            <p:cNvSpPr/>
            <p:nvPr/>
          </p:nvSpPr>
          <p:spPr>
            <a:xfrm>
              <a:off x="1199520" y="5364000"/>
              <a:ext cx="7030080" cy="1951200"/>
            </a:xfrm>
            <a:custGeom>
              <a:avLst/>
              <a:gdLst>
                <a:gd name="textAreaLeft" fmla="*/ 0 w 7030080"/>
                <a:gd name="textAreaRight" fmla="*/ 7030440 w 7030080"/>
                <a:gd name="textAreaTop" fmla="*/ 0 h 1951200"/>
                <a:gd name="textAreaBottom" fmla="*/ 1951560 h 1951200"/>
              </a:gdLst>
              <a:ahLst/>
              <a:rect l="textAreaLeft" t="textAreaTop" r="textAreaRight" b="textAreaBottom"/>
              <a:pathLst>
                <a:path w="4184669" h="1002394">
                  <a:moveTo>
                    <a:pt x="5360" y="0"/>
                  </a:moveTo>
                  <a:lnTo>
                    <a:pt x="4179310" y="0"/>
                  </a:lnTo>
                  <a:cubicBezTo>
                    <a:pt x="4182270" y="0"/>
                    <a:pt x="4184669" y="2400"/>
                    <a:pt x="4184669" y="5360"/>
                  </a:cubicBezTo>
                  <a:lnTo>
                    <a:pt x="4184669" y="997034"/>
                  </a:lnTo>
                  <a:cubicBezTo>
                    <a:pt x="4184669" y="999994"/>
                    <a:pt x="4182270" y="1002394"/>
                    <a:pt x="4179310" y="1002394"/>
                  </a:cubicBezTo>
                  <a:lnTo>
                    <a:pt x="5360" y="1002394"/>
                  </a:lnTo>
                  <a:cubicBezTo>
                    <a:pt x="2400" y="1002394"/>
                    <a:pt x="0" y="999994"/>
                    <a:pt x="0" y="997034"/>
                  </a:cubicBezTo>
                  <a:lnTo>
                    <a:pt x="0" y="5360"/>
                  </a:lnTo>
                  <a:cubicBezTo>
                    <a:pt x="0" y="2400"/>
                    <a:pt x="2400" y="0"/>
                    <a:pt x="5360"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8" name="TextBox 50"/>
            <p:cNvSpPr/>
            <p:nvPr/>
          </p:nvSpPr>
          <p:spPr>
            <a:xfrm>
              <a:off x="1199520" y="5271480"/>
              <a:ext cx="7030080" cy="204372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169" name="Group 16"/>
          <p:cNvGrpSpPr/>
          <p:nvPr/>
        </p:nvGrpSpPr>
        <p:grpSpPr>
          <a:xfrm>
            <a:off x="1199520" y="1394280"/>
            <a:ext cx="7010280" cy="3072600"/>
            <a:chOff x="1199520" y="1394280"/>
            <a:chExt cx="7010280" cy="3072600"/>
          </a:xfrm>
        </p:grpSpPr>
        <p:sp>
          <p:nvSpPr>
            <p:cNvPr id="170" name="Freeform 28"/>
            <p:cNvSpPr/>
            <p:nvPr/>
          </p:nvSpPr>
          <p:spPr>
            <a:xfrm>
              <a:off x="1199520" y="1575000"/>
              <a:ext cx="7009920" cy="2891520"/>
            </a:xfrm>
            <a:custGeom>
              <a:avLst/>
              <a:gdLst>
                <a:gd name="textAreaLeft" fmla="*/ 0 w 7009920"/>
                <a:gd name="textAreaRight" fmla="*/ 7010280 w 7009920"/>
                <a:gd name="textAreaTop" fmla="*/ 0 h 2891520"/>
                <a:gd name="textAreaBottom" fmla="*/ 2891880 h 2891520"/>
              </a:gdLst>
              <a:ahLst/>
              <a:rect l="textAreaLeft" t="textAreaTop" r="textAreaRight" b="textAreaBottom"/>
              <a:pathLst>
                <a:path w="1846376" h="761669">
                  <a:moveTo>
                    <a:pt x="12148" y="0"/>
                  </a:moveTo>
                  <a:lnTo>
                    <a:pt x="1834229" y="0"/>
                  </a:lnTo>
                  <a:cubicBezTo>
                    <a:pt x="1840938" y="0"/>
                    <a:pt x="1846376" y="5439"/>
                    <a:pt x="1846376" y="12148"/>
                  </a:cubicBezTo>
                  <a:lnTo>
                    <a:pt x="1846376" y="749521"/>
                  </a:lnTo>
                  <a:cubicBezTo>
                    <a:pt x="1846376" y="756230"/>
                    <a:pt x="1840938" y="761669"/>
                    <a:pt x="1834229" y="761669"/>
                  </a:cubicBezTo>
                  <a:lnTo>
                    <a:pt x="12148" y="761669"/>
                  </a:lnTo>
                  <a:cubicBezTo>
                    <a:pt x="5439" y="761669"/>
                    <a:pt x="0" y="756230"/>
                    <a:pt x="0" y="749521"/>
                  </a:cubicBezTo>
                  <a:lnTo>
                    <a:pt x="0" y="12148"/>
                  </a:lnTo>
                  <a:cubicBezTo>
                    <a:pt x="0" y="5439"/>
                    <a:pt x="5439" y="0"/>
                    <a:pt x="121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1" name="TextBox 51"/>
            <p:cNvSpPr/>
            <p:nvPr/>
          </p:nvSpPr>
          <p:spPr>
            <a:xfrm>
              <a:off x="1199520" y="1394280"/>
              <a:ext cx="7010280" cy="307260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172" name="Group 19"/>
          <p:cNvGrpSpPr/>
          <p:nvPr/>
        </p:nvGrpSpPr>
        <p:grpSpPr>
          <a:xfrm>
            <a:off x="1383840" y="1418760"/>
            <a:ext cx="6982920" cy="2884680"/>
            <a:chOff x="1383840" y="1418760"/>
            <a:chExt cx="6982920" cy="2884680"/>
          </a:xfrm>
        </p:grpSpPr>
        <p:sp>
          <p:nvSpPr>
            <p:cNvPr id="173" name="Freeform 30"/>
            <p:cNvSpPr/>
            <p:nvPr/>
          </p:nvSpPr>
          <p:spPr>
            <a:xfrm>
              <a:off x="1383840" y="1418760"/>
              <a:ext cx="6982920" cy="2884680"/>
            </a:xfrm>
            <a:custGeom>
              <a:avLst/>
              <a:gdLst>
                <a:gd name="textAreaLeft" fmla="*/ 0 w 6982920"/>
                <a:gd name="textAreaRight" fmla="*/ 6983280 w 6982920"/>
                <a:gd name="textAreaTop" fmla="*/ 0 h 2884680"/>
                <a:gd name="textAreaBottom" fmla="*/ 2885040 h 2884680"/>
              </a:gdLst>
              <a:ahLst/>
              <a:rect l="textAreaLeft" t="textAreaTop" r="textAreaRight" b="textAreaBottom"/>
              <a:pathLst>
                <a:path w="1081913" h="446948">
                  <a:moveTo>
                    <a:pt x="8869" y="0"/>
                  </a:moveTo>
                  <a:lnTo>
                    <a:pt x="1073044" y="0"/>
                  </a:lnTo>
                  <a:cubicBezTo>
                    <a:pt x="1077942" y="0"/>
                    <a:pt x="1081913" y="3971"/>
                    <a:pt x="1081913" y="8869"/>
                  </a:cubicBezTo>
                  <a:lnTo>
                    <a:pt x="1081913" y="438079"/>
                  </a:lnTo>
                  <a:cubicBezTo>
                    <a:pt x="1081913" y="440431"/>
                    <a:pt x="1080979" y="442687"/>
                    <a:pt x="1079315" y="444350"/>
                  </a:cubicBezTo>
                  <a:cubicBezTo>
                    <a:pt x="1077652" y="446013"/>
                    <a:pt x="1075396" y="446948"/>
                    <a:pt x="1073044" y="446948"/>
                  </a:cubicBezTo>
                  <a:lnTo>
                    <a:pt x="8869" y="446948"/>
                  </a:lnTo>
                  <a:cubicBezTo>
                    <a:pt x="3971" y="446948"/>
                    <a:pt x="0" y="442977"/>
                    <a:pt x="0" y="438079"/>
                  </a:cubicBezTo>
                  <a:lnTo>
                    <a:pt x="0" y="8869"/>
                  </a:lnTo>
                  <a:cubicBezTo>
                    <a:pt x="0" y="3971"/>
                    <a:pt x="3971" y="0"/>
                    <a:pt x="8869"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74" name="TextBox 53"/>
          <p:cNvSpPr/>
          <p:nvPr/>
        </p:nvSpPr>
        <p:spPr>
          <a:xfrm>
            <a:off x="8793360" y="1323360"/>
            <a:ext cx="8294760" cy="1593000"/>
          </a:xfrm>
          <a:prstGeom prst="rect">
            <a:avLst/>
          </a:prstGeom>
          <a:noFill/>
          <a:ln w="0">
            <a:noFill/>
          </a:ln>
        </p:spPr>
        <p:style>
          <a:lnRef idx="0"/>
          <a:fillRef idx="0"/>
          <a:effectRef idx="0"/>
          <a:fontRef idx="minor"/>
        </p:style>
        <p:txBody>
          <a:bodyPr lIns="0" rIns="0" tIns="0" bIns="0" anchor="t">
            <a:spAutoFit/>
          </a:bodyPr>
          <a:p>
            <a:pPr defTabSz="914400">
              <a:lnSpc>
                <a:spcPts val="6270"/>
              </a:lnSpc>
              <a:spcBef>
                <a:spcPts val="1191"/>
              </a:spcBef>
              <a:spcAft>
                <a:spcPts val="992"/>
              </a:spcAft>
            </a:pPr>
            <a:r>
              <a:rPr b="0" lang="en-US" sz="4800" spc="-1" strike="noStrike">
                <a:solidFill>
                  <a:srgbClr val="ffffff"/>
                </a:solidFill>
                <a:latin typeface="HK Modular"/>
                <a:ea typeface="HK Modular"/>
              </a:rPr>
              <a:t>Hibrid Ranking: </a:t>
            </a:r>
            <a:br>
              <a:rPr sz="4800"/>
            </a:br>
            <a:r>
              <a:rPr b="0" lang="en-US" sz="4800" spc="-1" strike="noStrike">
                <a:solidFill>
                  <a:srgbClr val="ffffff"/>
                </a:solidFill>
                <a:latin typeface="HK Modular"/>
                <a:ea typeface="HK Modular"/>
              </a:rPr>
              <a:t>With function_score()</a:t>
            </a:r>
            <a:endParaRPr b="0" lang="en-US" sz="4800" spc="-1" strike="noStrike">
              <a:solidFill>
                <a:srgbClr val="ffffff"/>
              </a:solidFill>
              <a:latin typeface="Arial"/>
            </a:endParaRPr>
          </a:p>
        </p:txBody>
      </p:sp>
      <p:sp>
        <p:nvSpPr>
          <p:cNvPr id="175" name=""/>
          <p:cNvSpPr txBox="1"/>
          <p:nvPr/>
        </p:nvSpPr>
        <p:spPr>
          <a:xfrm>
            <a:off x="1478880" y="5715000"/>
            <a:ext cx="5836320" cy="1027800"/>
          </a:xfrm>
          <a:prstGeom prst="rect">
            <a:avLst/>
          </a:prstGeom>
          <a:noFill/>
          <a:ln w="0">
            <a:noFill/>
          </a:ln>
        </p:spPr>
        <p:txBody>
          <a:bodyPr lIns="90000" rIns="90000" tIns="45000" bIns="45000" anchor="t">
            <a:noAutofit/>
          </a:bodyPr>
          <a:p>
            <a:r>
              <a:rPr b="0" lang="en-US" sz="2200" spc="-1" strike="noStrike">
                <a:solidFill>
                  <a:srgbClr val="ffffff"/>
                </a:solidFill>
                <a:latin typeface="Arial"/>
              </a:rPr>
              <a:t>The `function_score` query is the primary tool for blending text relevance (the BM25 score) with multiple business signals.</a:t>
            </a:r>
            <a:endParaRPr b="0" lang="en-US" sz="2200" spc="-1" strike="noStrike">
              <a:solidFill>
                <a:srgbClr val="ffffff"/>
              </a:solidFill>
              <a:latin typeface="Arial"/>
            </a:endParaRPr>
          </a:p>
        </p:txBody>
      </p:sp>
      <p:pic>
        <p:nvPicPr>
          <p:cNvPr id="176" name="" descr=""/>
          <p:cNvPicPr/>
          <p:nvPr/>
        </p:nvPicPr>
        <p:blipFill>
          <a:blip r:embed="rId6"/>
          <a:stretch/>
        </p:blipFill>
        <p:spPr>
          <a:xfrm>
            <a:off x="8915400" y="3558960"/>
            <a:ext cx="6629400" cy="64994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grpSp>
        <p:nvGrpSpPr>
          <p:cNvPr id="177" name="Group 2"/>
          <p:cNvGrpSpPr/>
          <p:nvPr/>
        </p:nvGrpSpPr>
        <p:grpSpPr>
          <a:xfrm>
            <a:off x="2202120" y="3217320"/>
            <a:ext cx="5584680" cy="1990800"/>
            <a:chOff x="2202120" y="3217320"/>
            <a:chExt cx="5584680" cy="1990800"/>
          </a:xfrm>
        </p:grpSpPr>
        <p:sp>
          <p:nvSpPr>
            <p:cNvPr id="178" name="Freeform 3"/>
            <p:cNvSpPr/>
            <p:nvPr/>
          </p:nvSpPr>
          <p:spPr>
            <a:xfrm>
              <a:off x="2202120" y="3341160"/>
              <a:ext cx="5584680" cy="1866960"/>
            </a:xfrm>
            <a:custGeom>
              <a:avLst/>
              <a:gdLst>
                <a:gd name="textAreaLeft" fmla="*/ 0 w 5584680"/>
                <a:gd name="textAreaRight" fmla="*/ 5585040 w 5584680"/>
                <a:gd name="textAreaTop" fmla="*/ 0 h 1866960"/>
                <a:gd name="textAreaBottom" fmla="*/ 1867320 h 186696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TextBox 4"/>
            <p:cNvSpPr/>
            <p:nvPr/>
          </p:nvSpPr>
          <p:spPr>
            <a:xfrm>
              <a:off x="2202120" y="3217320"/>
              <a:ext cx="5584680" cy="1990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80" name="Group 8"/>
          <p:cNvGrpSpPr/>
          <p:nvPr/>
        </p:nvGrpSpPr>
        <p:grpSpPr>
          <a:xfrm>
            <a:off x="8853120" y="3217320"/>
            <a:ext cx="5584680" cy="1990800"/>
            <a:chOff x="8853120" y="3217320"/>
            <a:chExt cx="5584680" cy="1990800"/>
          </a:xfrm>
        </p:grpSpPr>
        <p:sp>
          <p:nvSpPr>
            <p:cNvPr id="181" name="Freeform 9"/>
            <p:cNvSpPr/>
            <p:nvPr/>
          </p:nvSpPr>
          <p:spPr>
            <a:xfrm>
              <a:off x="8853120" y="3341160"/>
              <a:ext cx="5584680" cy="1866960"/>
            </a:xfrm>
            <a:custGeom>
              <a:avLst/>
              <a:gdLst>
                <a:gd name="textAreaLeft" fmla="*/ 0 w 5584680"/>
                <a:gd name="textAreaRight" fmla="*/ 5585040 w 5584680"/>
                <a:gd name="textAreaTop" fmla="*/ 0 h 1866960"/>
                <a:gd name="textAreaBottom" fmla="*/ 1867320 h 186696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TextBox 10"/>
            <p:cNvSpPr/>
            <p:nvPr/>
          </p:nvSpPr>
          <p:spPr>
            <a:xfrm>
              <a:off x="8853120" y="3217320"/>
              <a:ext cx="5584680" cy="1990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83" name="Group 14"/>
          <p:cNvGrpSpPr/>
          <p:nvPr/>
        </p:nvGrpSpPr>
        <p:grpSpPr>
          <a:xfrm>
            <a:off x="2409120" y="3437640"/>
            <a:ext cx="720360" cy="829440"/>
            <a:chOff x="2409120" y="3437640"/>
            <a:chExt cx="720360" cy="829440"/>
          </a:xfrm>
        </p:grpSpPr>
        <p:sp>
          <p:nvSpPr>
            <p:cNvPr id="184" name="Freeform 15"/>
            <p:cNvSpPr/>
            <p:nvPr/>
          </p:nvSpPr>
          <p:spPr>
            <a:xfrm>
              <a:off x="2409120" y="36187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TextBox 16"/>
            <p:cNvSpPr/>
            <p:nvPr/>
          </p:nvSpPr>
          <p:spPr>
            <a:xfrm>
              <a:off x="2409120" y="3437640"/>
              <a:ext cx="720360" cy="829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186" name="Group 20"/>
          <p:cNvGrpSpPr/>
          <p:nvPr/>
        </p:nvGrpSpPr>
        <p:grpSpPr>
          <a:xfrm>
            <a:off x="9060480" y="3437640"/>
            <a:ext cx="720360" cy="829440"/>
            <a:chOff x="9060480" y="3437640"/>
            <a:chExt cx="720360" cy="829440"/>
          </a:xfrm>
        </p:grpSpPr>
        <p:sp>
          <p:nvSpPr>
            <p:cNvPr id="187" name="Freeform 21"/>
            <p:cNvSpPr/>
            <p:nvPr/>
          </p:nvSpPr>
          <p:spPr>
            <a:xfrm>
              <a:off x="9060480" y="36187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TextBox 22"/>
            <p:cNvSpPr/>
            <p:nvPr/>
          </p:nvSpPr>
          <p:spPr>
            <a:xfrm>
              <a:off x="9060480" y="3437640"/>
              <a:ext cx="720360" cy="829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sp>
        <p:nvSpPr>
          <p:cNvPr id="189" name="Freeform 26"/>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0" name="Freeform 27"/>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1" name="TextBox 28"/>
          <p:cNvSpPr/>
          <p:nvPr/>
        </p:nvSpPr>
        <p:spPr>
          <a:xfrm>
            <a:off x="2524320" y="365580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sp>
        <p:nvSpPr>
          <p:cNvPr id="192" name="TextBox 30"/>
          <p:cNvSpPr/>
          <p:nvPr/>
        </p:nvSpPr>
        <p:spPr>
          <a:xfrm>
            <a:off x="9139680" y="376380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02</a:t>
            </a:r>
            <a:endParaRPr b="0" lang="en-US" sz="3309" spc="-1" strike="noStrike">
              <a:solidFill>
                <a:srgbClr val="ffffff"/>
              </a:solidFill>
              <a:latin typeface="Arial"/>
            </a:endParaRPr>
          </a:p>
        </p:txBody>
      </p:sp>
      <p:sp>
        <p:nvSpPr>
          <p:cNvPr id="193" name="TextBox 32"/>
          <p:cNvSpPr/>
          <p:nvPr/>
        </p:nvSpPr>
        <p:spPr>
          <a:xfrm>
            <a:off x="3440520" y="4260600"/>
            <a:ext cx="3978720" cy="60012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Sales velocity, page views, or add-to-carts in the last 30 days</a:t>
            </a:r>
            <a:endParaRPr b="0" lang="en-US" sz="2200" spc="-1" strike="noStrike">
              <a:solidFill>
                <a:srgbClr val="ffffff"/>
              </a:solidFill>
              <a:latin typeface="Arial"/>
            </a:endParaRPr>
          </a:p>
        </p:txBody>
      </p:sp>
      <p:sp>
        <p:nvSpPr>
          <p:cNvPr id="194" name="TextBox 34"/>
          <p:cNvSpPr/>
          <p:nvPr/>
        </p:nvSpPr>
        <p:spPr>
          <a:xfrm>
            <a:off x="10091880" y="426060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Boost high-margin products</a:t>
            </a:r>
            <a:endParaRPr b="0" lang="en-US" sz="2200" spc="-1" strike="noStrike">
              <a:solidFill>
                <a:srgbClr val="ffffff"/>
              </a:solidFill>
              <a:latin typeface="Arial"/>
            </a:endParaRPr>
          </a:p>
        </p:txBody>
      </p:sp>
      <p:sp>
        <p:nvSpPr>
          <p:cNvPr id="195" name="TextBox 36"/>
          <p:cNvSpPr/>
          <p:nvPr/>
        </p:nvSpPr>
        <p:spPr>
          <a:xfrm>
            <a:off x="3440520" y="3827160"/>
            <a:ext cx="397872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Popularity</a:t>
            </a:r>
            <a:endParaRPr b="0" lang="en-US" sz="2090" spc="-1" strike="noStrike">
              <a:solidFill>
                <a:srgbClr val="ffffff"/>
              </a:solidFill>
              <a:latin typeface="Arial"/>
            </a:endParaRPr>
          </a:p>
        </p:txBody>
      </p:sp>
      <p:sp>
        <p:nvSpPr>
          <p:cNvPr id="196" name="TextBox 38"/>
          <p:cNvSpPr/>
          <p:nvPr/>
        </p:nvSpPr>
        <p:spPr>
          <a:xfrm>
            <a:off x="10091880" y="382716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Profitability</a:t>
            </a:r>
            <a:endParaRPr b="0" lang="en-US" sz="2090" spc="-1" strike="noStrike">
              <a:solidFill>
                <a:srgbClr val="ffffff"/>
              </a:solidFill>
              <a:latin typeface="Arial"/>
            </a:endParaRPr>
          </a:p>
        </p:txBody>
      </p:sp>
      <p:sp>
        <p:nvSpPr>
          <p:cNvPr id="197" name="TextBox 40"/>
          <p:cNvSpPr/>
          <p:nvPr/>
        </p:nvSpPr>
        <p:spPr>
          <a:xfrm>
            <a:off x="2251800" y="942840"/>
            <a:ext cx="13111560" cy="710280"/>
          </a:xfrm>
          <a:prstGeom prst="rect">
            <a:avLst/>
          </a:prstGeom>
          <a:noFill/>
          <a:ln w="0">
            <a:noFill/>
          </a:ln>
        </p:spPr>
        <p:style>
          <a:lnRef idx="0"/>
          <a:fillRef idx="0"/>
          <a:effectRef idx="0"/>
          <a:fontRef idx="minor"/>
        </p:style>
        <p:txBody>
          <a:bodyPr lIns="0" rIns="0" tIns="0" bIns="0" anchor="t">
            <a:spAutoFit/>
          </a:bodyPr>
          <a:p>
            <a:pPr defTabSz="914400">
              <a:lnSpc>
                <a:spcPts val="5590"/>
              </a:lnSpc>
              <a:spcBef>
                <a:spcPts val="1191"/>
              </a:spcBef>
              <a:spcAft>
                <a:spcPts val="992"/>
              </a:spcAft>
            </a:pPr>
            <a:r>
              <a:rPr b="0" lang="en-US" sz="3990" spc="-1" strike="noStrike">
                <a:solidFill>
                  <a:srgbClr val="ffffff"/>
                </a:solidFill>
                <a:latin typeface="HK Modular"/>
                <a:ea typeface="HK Modular"/>
              </a:rPr>
              <a:t>The Merchandiser's Toolbox - Key Business Signals</a:t>
            </a:r>
            <a:endParaRPr b="0" lang="en-US" sz="3990" spc="-1" strike="noStrike">
              <a:solidFill>
                <a:srgbClr val="ffffff"/>
              </a:solidFill>
              <a:latin typeface="Arial"/>
            </a:endParaRPr>
          </a:p>
        </p:txBody>
      </p:sp>
      <p:sp>
        <p:nvSpPr>
          <p:cNvPr id="198" name=""/>
          <p:cNvSpPr txBox="1"/>
          <p:nvPr/>
        </p:nvSpPr>
        <p:spPr>
          <a:xfrm>
            <a:off x="2286000" y="2008800"/>
            <a:ext cx="5257800" cy="1197360"/>
          </a:xfrm>
          <a:prstGeom prst="rect">
            <a:avLst/>
          </a:prstGeom>
          <a:noFill/>
          <a:ln w="0">
            <a:noFill/>
          </a:ln>
        </p:spPr>
        <p:txBody>
          <a:bodyPr lIns="90000" rIns="90000" tIns="45000" bIns="45000" anchor="t">
            <a:noAutofit/>
          </a:bodyPr>
          <a:p>
            <a:r>
              <a:rPr b="0" lang="en-US" sz="2600" spc="-1" strike="noStrike">
                <a:solidFill>
                  <a:srgbClr val="ffffff"/>
                </a:solidFill>
                <a:latin typeface="Arial"/>
              </a:rPr>
              <a:t>These are the numerical signals we feed into our `function_score` query.</a:t>
            </a:r>
            <a:endParaRPr b="0" lang="en-US" sz="2600" spc="-1" strike="noStrike">
              <a:solidFill>
                <a:srgbClr val="ffffff"/>
              </a:solidFill>
              <a:latin typeface="Arial"/>
            </a:endParaRPr>
          </a:p>
        </p:txBody>
      </p:sp>
      <p:grpSp>
        <p:nvGrpSpPr>
          <p:cNvPr id="199" name="Group 22"/>
          <p:cNvGrpSpPr/>
          <p:nvPr/>
        </p:nvGrpSpPr>
        <p:grpSpPr>
          <a:xfrm>
            <a:off x="2409120" y="3437640"/>
            <a:ext cx="720360" cy="829440"/>
            <a:chOff x="2409120" y="3437640"/>
            <a:chExt cx="720360" cy="829440"/>
          </a:xfrm>
        </p:grpSpPr>
        <p:sp>
          <p:nvSpPr>
            <p:cNvPr id="200" name="Freeform 31"/>
            <p:cNvSpPr/>
            <p:nvPr/>
          </p:nvSpPr>
          <p:spPr>
            <a:xfrm>
              <a:off x="2409120" y="36187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1" name="TextBox 52"/>
            <p:cNvSpPr/>
            <p:nvPr/>
          </p:nvSpPr>
          <p:spPr>
            <a:xfrm>
              <a:off x="2409120" y="343764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02" name="TextBox 55"/>
          <p:cNvSpPr/>
          <p:nvPr/>
        </p:nvSpPr>
        <p:spPr>
          <a:xfrm>
            <a:off x="2524320" y="365580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grpSp>
        <p:nvGrpSpPr>
          <p:cNvPr id="203" name="Group 24"/>
          <p:cNvGrpSpPr/>
          <p:nvPr/>
        </p:nvGrpSpPr>
        <p:grpSpPr>
          <a:xfrm>
            <a:off x="2409120" y="3438360"/>
            <a:ext cx="720360" cy="829440"/>
            <a:chOff x="2409120" y="3438360"/>
            <a:chExt cx="720360" cy="829440"/>
          </a:xfrm>
        </p:grpSpPr>
        <p:sp>
          <p:nvSpPr>
            <p:cNvPr id="204" name="Freeform 32"/>
            <p:cNvSpPr/>
            <p:nvPr/>
          </p:nvSpPr>
          <p:spPr>
            <a:xfrm>
              <a:off x="2409120" y="361944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5" name="TextBox 57"/>
            <p:cNvSpPr/>
            <p:nvPr/>
          </p:nvSpPr>
          <p:spPr>
            <a:xfrm>
              <a:off x="2409120" y="343836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06" name="Group 25"/>
          <p:cNvGrpSpPr/>
          <p:nvPr/>
        </p:nvGrpSpPr>
        <p:grpSpPr>
          <a:xfrm>
            <a:off x="9060480" y="3438360"/>
            <a:ext cx="720360" cy="829440"/>
            <a:chOff x="9060480" y="3438360"/>
            <a:chExt cx="720360" cy="829440"/>
          </a:xfrm>
        </p:grpSpPr>
        <p:sp>
          <p:nvSpPr>
            <p:cNvPr id="207" name="Freeform 33"/>
            <p:cNvSpPr/>
            <p:nvPr/>
          </p:nvSpPr>
          <p:spPr>
            <a:xfrm>
              <a:off x="9060480" y="361944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TextBox 58"/>
            <p:cNvSpPr/>
            <p:nvPr/>
          </p:nvSpPr>
          <p:spPr>
            <a:xfrm>
              <a:off x="9060480" y="343836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09" name="TextBox 59"/>
          <p:cNvSpPr/>
          <p:nvPr/>
        </p:nvSpPr>
        <p:spPr>
          <a:xfrm>
            <a:off x="2524320" y="365652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sp>
        <p:nvSpPr>
          <p:cNvPr id="210" name="TextBox 60"/>
          <p:cNvSpPr/>
          <p:nvPr/>
        </p:nvSpPr>
        <p:spPr>
          <a:xfrm>
            <a:off x="9139680" y="376452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02</a:t>
            </a:r>
            <a:endParaRPr b="0" lang="en-US" sz="3309" spc="-1" strike="noStrike">
              <a:solidFill>
                <a:srgbClr val="ffffff"/>
              </a:solidFill>
              <a:latin typeface="Arial"/>
            </a:endParaRPr>
          </a:p>
        </p:txBody>
      </p:sp>
      <p:sp>
        <p:nvSpPr>
          <p:cNvPr id="211" name="TextBox 61"/>
          <p:cNvSpPr/>
          <p:nvPr/>
        </p:nvSpPr>
        <p:spPr>
          <a:xfrm>
            <a:off x="3440520" y="4261320"/>
            <a:ext cx="3978720" cy="60012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Sales velocity, page views, or add-to-carts in the last 30 days</a:t>
            </a:r>
            <a:endParaRPr b="0" lang="en-US" sz="2200" spc="-1" strike="noStrike">
              <a:solidFill>
                <a:srgbClr val="ffffff"/>
              </a:solidFill>
              <a:latin typeface="Arial"/>
            </a:endParaRPr>
          </a:p>
        </p:txBody>
      </p:sp>
      <p:sp>
        <p:nvSpPr>
          <p:cNvPr id="212" name="TextBox 62"/>
          <p:cNvSpPr/>
          <p:nvPr/>
        </p:nvSpPr>
        <p:spPr>
          <a:xfrm>
            <a:off x="10091880" y="426132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Boost high-margin products</a:t>
            </a:r>
            <a:endParaRPr b="0" lang="en-US" sz="2200" spc="-1" strike="noStrike">
              <a:solidFill>
                <a:srgbClr val="ffffff"/>
              </a:solidFill>
              <a:latin typeface="Arial"/>
            </a:endParaRPr>
          </a:p>
        </p:txBody>
      </p:sp>
      <p:sp>
        <p:nvSpPr>
          <p:cNvPr id="213" name="TextBox 63"/>
          <p:cNvSpPr/>
          <p:nvPr/>
        </p:nvSpPr>
        <p:spPr>
          <a:xfrm>
            <a:off x="3440520" y="3827880"/>
            <a:ext cx="397872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Popularity</a:t>
            </a:r>
            <a:endParaRPr b="0" lang="en-US" sz="2090" spc="-1" strike="noStrike">
              <a:solidFill>
                <a:srgbClr val="ffffff"/>
              </a:solidFill>
              <a:latin typeface="Arial"/>
            </a:endParaRPr>
          </a:p>
        </p:txBody>
      </p:sp>
      <p:sp>
        <p:nvSpPr>
          <p:cNvPr id="214" name="TextBox 64"/>
          <p:cNvSpPr/>
          <p:nvPr/>
        </p:nvSpPr>
        <p:spPr>
          <a:xfrm>
            <a:off x="10091880" y="382788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Profitability</a:t>
            </a:r>
            <a:endParaRPr b="0" lang="en-US" sz="2090" spc="-1" strike="noStrike">
              <a:solidFill>
                <a:srgbClr val="ffffff"/>
              </a:solidFill>
              <a:latin typeface="Arial"/>
            </a:endParaRPr>
          </a:p>
        </p:txBody>
      </p:sp>
      <p:grpSp>
        <p:nvGrpSpPr>
          <p:cNvPr id="215" name="Group 26"/>
          <p:cNvGrpSpPr/>
          <p:nvPr/>
        </p:nvGrpSpPr>
        <p:grpSpPr>
          <a:xfrm>
            <a:off x="2409120" y="3438360"/>
            <a:ext cx="720360" cy="829440"/>
            <a:chOff x="2409120" y="3438360"/>
            <a:chExt cx="720360" cy="829440"/>
          </a:xfrm>
        </p:grpSpPr>
        <p:sp>
          <p:nvSpPr>
            <p:cNvPr id="216" name="Freeform 34"/>
            <p:cNvSpPr/>
            <p:nvPr/>
          </p:nvSpPr>
          <p:spPr>
            <a:xfrm>
              <a:off x="2409120" y="361944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TextBox 65"/>
            <p:cNvSpPr/>
            <p:nvPr/>
          </p:nvSpPr>
          <p:spPr>
            <a:xfrm>
              <a:off x="2409120" y="343836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18" name="TextBox 66"/>
          <p:cNvSpPr/>
          <p:nvPr/>
        </p:nvSpPr>
        <p:spPr>
          <a:xfrm>
            <a:off x="2524320" y="365652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grpSp>
        <p:nvGrpSpPr>
          <p:cNvPr id="219" name="Group 27"/>
          <p:cNvGrpSpPr/>
          <p:nvPr/>
        </p:nvGrpSpPr>
        <p:grpSpPr>
          <a:xfrm>
            <a:off x="2202120" y="5142600"/>
            <a:ext cx="5584680" cy="1990800"/>
            <a:chOff x="2202120" y="5142600"/>
            <a:chExt cx="5584680" cy="1990800"/>
          </a:xfrm>
        </p:grpSpPr>
        <p:sp>
          <p:nvSpPr>
            <p:cNvPr id="220" name="Freeform 35"/>
            <p:cNvSpPr/>
            <p:nvPr/>
          </p:nvSpPr>
          <p:spPr>
            <a:xfrm>
              <a:off x="2202120" y="5266440"/>
              <a:ext cx="5584680" cy="1866960"/>
            </a:xfrm>
            <a:custGeom>
              <a:avLst/>
              <a:gdLst>
                <a:gd name="textAreaLeft" fmla="*/ 0 w 5584680"/>
                <a:gd name="textAreaRight" fmla="*/ 5585040 w 5584680"/>
                <a:gd name="textAreaTop" fmla="*/ 0 h 1866960"/>
                <a:gd name="textAreaBottom" fmla="*/ 1867320 h 186696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1" name="TextBox 67"/>
            <p:cNvSpPr/>
            <p:nvPr/>
          </p:nvSpPr>
          <p:spPr>
            <a:xfrm>
              <a:off x="2202120" y="5142600"/>
              <a:ext cx="5584680" cy="199080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22" name="Group 28"/>
          <p:cNvGrpSpPr/>
          <p:nvPr/>
        </p:nvGrpSpPr>
        <p:grpSpPr>
          <a:xfrm>
            <a:off x="8853120" y="5144400"/>
            <a:ext cx="5584680" cy="1990800"/>
            <a:chOff x="8853120" y="5144400"/>
            <a:chExt cx="5584680" cy="1990800"/>
          </a:xfrm>
        </p:grpSpPr>
        <p:sp>
          <p:nvSpPr>
            <p:cNvPr id="223" name="Freeform 36"/>
            <p:cNvSpPr/>
            <p:nvPr/>
          </p:nvSpPr>
          <p:spPr>
            <a:xfrm>
              <a:off x="8853120" y="5268240"/>
              <a:ext cx="5584680" cy="1866960"/>
            </a:xfrm>
            <a:custGeom>
              <a:avLst/>
              <a:gdLst>
                <a:gd name="textAreaLeft" fmla="*/ 0 w 5584680"/>
                <a:gd name="textAreaRight" fmla="*/ 5585040 w 5584680"/>
                <a:gd name="textAreaTop" fmla="*/ 0 h 1866960"/>
                <a:gd name="textAreaBottom" fmla="*/ 1867320 h 186696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TextBox 68"/>
            <p:cNvSpPr/>
            <p:nvPr/>
          </p:nvSpPr>
          <p:spPr>
            <a:xfrm>
              <a:off x="8853120" y="5144400"/>
              <a:ext cx="5584680" cy="199080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25" name="Group 29"/>
          <p:cNvGrpSpPr/>
          <p:nvPr/>
        </p:nvGrpSpPr>
        <p:grpSpPr>
          <a:xfrm>
            <a:off x="2409120" y="5542920"/>
            <a:ext cx="720360" cy="829440"/>
            <a:chOff x="2409120" y="5542920"/>
            <a:chExt cx="720360" cy="829440"/>
          </a:xfrm>
        </p:grpSpPr>
        <p:sp>
          <p:nvSpPr>
            <p:cNvPr id="226" name="Freeform 37"/>
            <p:cNvSpPr/>
            <p:nvPr/>
          </p:nvSpPr>
          <p:spPr>
            <a:xfrm>
              <a:off x="2409120" y="57240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TextBox 69"/>
            <p:cNvSpPr/>
            <p:nvPr/>
          </p:nvSpPr>
          <p:spPr>
            <a:xfrm>
              <a:off x="2409120" y="554292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28" name="Group 30"/>
          <p:cNvGrpSpPr/>
          <p:nvPr/>
        </p:nvGrpSpPr>
        <p:grpSpPr>
          <a:xfrm>
            <a:off x="9060480" y="5591520"/>
            <a:ext cx="720360" cy="829440"/>
            <a:chOff x="9060480" y="5591520"/>
            <a:chExt cx="720360" cy="829440"/>
          </a:xfrm>
        </p:grpSpPr>
        <p:sp>
          <p:nvSpPr>
            <p:cNvPr id="229" name="Freeform 38"/>
            <p:cNvSpPr/>
            <p:nvPr/>
          </p:nvSpPr>
          <p:spPr>
            <a:xfrm>
              <a:off x="9060480" y="57726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TextBox 70"/>
            <p:cNvSpPr/>
            <p:nvPr/>
          </p:nvSpPr>
          <p:spPr>
            <a:xfrm>
              <a:off x="9060480" y="559152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31" name="TextBox 71"/>
          <p:cNvSpPr/>
          <p:nvPr/>
        </p:nvSpPr>
        <p:spPr>
          <a:xfrm>
            <a:off x="2524320" y="576108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sp>
        <p:nvSpPr>
          <p:cNvPr id="232" name="TextBox 72"/>
          <p:cNvSpPr/>
          <p:nvPr/>
        </p:nvSpPr>
        <p:spPr>
          <a:xfrm>
            <a:off x="9139680" y="591768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02</a:t>
            </a:r>
            <a:endParaRPr b="0" lang="en-US" sz="3309" spc="-1" strike="noStrike">
              <a:solidFill>
                <a:srgbClr val="ffffff"/>
              </a:solidFill>
              <a:latin typeface="Arial"/>
            </a:endParaRPr>
          </a:p>
        </p:txBody>
      </p:sp>
      <p:sp>
        <p:nvSpPr>
          <p:cNvPr id="233" name="TextBox 73"/>
          <p:cNvSpPr/>
          <p:nvPr/>
        </p:nvSpPr>
        <p:spPr>
          <a:xfrm>
            <a:off x="3440520" y="636588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Promote new arrivals</a:t>
            </a:r>
            <a:endParaRPr b="0" lang="en-US" sz="2200" spc="-1" strike="noStrike">
              <a:solidFill>
                <a:srgbClr val="ffffff"/>
              </a:solidFill>
              <a:latin typeface="Arial"/>
            </a:endParaRPr>
          </a:p>
        </p:txBody>
      </p:sp>
      <p:sp>
        <p:nvSpPr>
          <p:cNvPr id="234" name="TextBox 74"/>
          <p:cNvSpPr/>
          <p:nvPr/>
        </p:nvSpPr>
        <p:spPr>
          <a:xfrm>
            <a:off x="10091880" y="6414480"/>
            <a:ext cx="3978720" cy="59940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Explicitly boost products part of a marketing campaign.</a:t>
            </a:r>
            <a:endParaRPr b="0" lang="en-US" sz="2200" spc="-1" strike="noStrike">
              <a:solidFill>
                <a:srgbClr val="ffffff"/>
              </a:solidFill>
              <a:latin typeface="Arial"/>
            </a:endParaRPr>
          </a:p>
        </p:txBody>
      </p:sp>
      <p:sp>
        <p:nvSpPr>
          <p:cNvPr id="235" name="TextBox 75"/>
          <p:cNvSpPr/>
          <p:nvPr/>
        </p:nvSpPr>
        <p:spPr>
          <a:xfrm>
            <a:off x="3440520" y="5932440"/>
            <a:ext cx="397872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200" spc="-1" strike="noStrike">
                <a:solidFill>
                  <a:srgbClr val="ffffff"/>
                </a:solidFill>
                <a:latin typeface="Mina Bold"/>
                <a:ea typeface="Mina Bold"/>
              </a:rPr>
              <a:t>Freshness</a:t>
            </a:r>
            <a:endParaRPr b="0" lang="en-US" sz="2200" spc="-1" strike="noStrike">
              <a:solidFill>
                <a:srgbClr val="ffffff"/>
              </a:solidFill>
              <a:latin typeface="Arial"/>
            </a:endParaRPr>
          </a:p>
        </p:txBody>
      </p:sp>
      <p:sp>
        <p:nvSpPr>
          <p:cNvPr id="236" name="TextBox 76"/>
          <p:cNvSpPr/>
          <p:nvPr/>
        </p:nvSpPr>
        <p:spPr>
          <a:xfrm>
            <a:off x="10091880" y="598104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200" spc="-1" strike="noStrike">
                <a:solidFill>
                  <a:srgbClr val="ffffff"/>
                </a:solidFill>
                <a:latin typeface="Mina Bold"/>
                <a:ea typeface="Mina Bold"/>
              </a:rPr>
              <a:t>Promotions</a:t>
            </a:r>
            <a:endParaRPr b="0" lang="en-US" sz="2200" spc="-1" strike="noStrike">
              <a:solidFill>
                <a:srgbClr val="ffffff"/>
              </a:solidFill>
              <a:latin typeface="Arial"/>
            </a:endParaRPr>
          </a:p>
        </p:txBody>
      </p:sp>
      <p:grpSp>
        <p:nvGrpSpPr>
          <p:cNvPr id="237" name="Group 31"/>
          <p:cNvGrpSpPr/>
          <p:nvPr/>
        </p:nvGrpSpPr>
        <p:grpSpPr>
          <a:xfrm>
            <a:off x="2409120" y="5542920"/>
            <a:ext cx="720360" cy="829440"/>
            <a:chOff x="2409120" y="5542920"/>
            <a:chExt cx="720360" cy="829440"/>
          </a:xfrm>
        </p:grpSpPr>
        <p:sp>
          <p:nvSpPr>
            <p:cNvPr id="238" name="Freeform 39"/>
            <p:cNvSpPr/>
            <p:nvPr/>
          </p:nvSpPr>
          <p:spPr>
            <a:xfrm>
              <a:off x="2409120" y="57240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TextBox 77"/>
            <p:cNvSpPr/>
            <p:nvPr/>
          </p:nvSpPr>
          <p:spPr>
            <a:xfrm>
              <a:off x="2409120" y="554292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40" name="TextBox 78"/>
          <p:cNvSpPr/>
          <p:nvPr/>
        </p:nvSpPr>
        <p:spPr>
          <a:xfrm>
            <a:off x="2524320" y="576108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grpSp>
        <p:nvGrpSpPr>
          <p:cNvPr id="241" name="Group 32"/>
          <p:cNvGrpSpPr/>
          <p:nvPr/>
        </p:nvGrpSpPr>
        <p:grpSpPr>
          <a:xfrm>
            <a:off x="2409120" y="5543640"/>
            <a:ext cx="720360" cy="829440"/>
            <a:chOff x="2409120" y="5543640"/>
            <a:chExt cx="720360" cy="829440"/>
          </a:xfrm>
        </p:grpSpPr>
        <p:sp>
          <p:nvSpPr>
            <p:cNvPr id="242" name="Freeform 40"/>
            <p:cNvSpPr/>
            <p:nvPr/>
          </p:nvSpPr>
          <p:spPr>
            <a:xfrm>
              <a:off x="2409120" y="57247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TextBox 79"/>
            <p:cNvSpPr/>
            <p:nvPr/>
          </p:nvSpPr>
          <p:spPr>
            <a:xfrm>
              <a:off x="2409120" y="554364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44" name="Group 33"/>
          <p:cNvGrpSpPr/>
          <p:nvPr/>
        </p:nvGrpSpPr>
        <p:grpSpPr>
          <a:xfrm>
            <a:off x="9060480" y="5592240"/>
            <a:ext cx="720360" cy="829440"/>
            <a:chOff x="9060480" y="5592240"/>
            <a:chExt cx="720360" cy="829440"/>
          </a:xfrm>
        </p:grpSpPr>
        <p:sp>
          <p:nvSpPr>
            <p:cNvPr id="245" name="Freeform 41"/>
            <p:cNvSpPr/>
            <p:nvPr/>
          </p:nvSpPr>
          <p:spPr>
            <a:xfrm>
              <a:off x="9060480" y="57733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TextBox 80"/>
            <p:cNvSpPr/>
            <p:nvPr/>
          </p:nvSpPr>
          <p:spPr>
            <a:xfrm>
              <a:off x="9060480" y="559224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47" name="TextBox 81"/>
          <p:cNvSpPr/>
          <p:nvPr/>
        </p:nvSpPr>
        <p:spPr>
          <a:xfrm>
            <a:off x="2524320" y="576180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01</a:t>
            </a:r>
            <a:endParaRPr b="0" lang="en-US" sz="3309" spc="-1" strike="noStrike">
              <a:solidFill>
                <a:srgbClr val="ffffff"/>
              </a:solidFill>
              <a:latin typeface="Arial"/>
            </a:endParaRPr>
          </a:p>
        </p:txBody>
      </p:sp>
      <p:sp>
        <p:nvSpPr>
          <p:cNvPr id="248" name="TextBox 82"/>
          <p:cNvSpPr/>
          <p:nvPr/>
        </p:nvSpPr>
        <p:spPr>
          <a:xfrm>
            <a:off x="9139680" y="591840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04</a:t>
            </a:r>
            <a:endParaRPr b="0" lang="en-US" sz="3309" spc="-1" strike="noStrike">
              <a:solidFill>
                <a:srgbClr val="ffffff"/>
              </a:solidFill>
              <a:latin typeface="Arial"/>
            </a:endParaRPr>
          </a:p>
        </p:txBody>
      </p:sp>
      <p:sp>
        <p:nvSpPr>
          <p:cNvPr id="249" name="TextBox 86"/>
          <p:cNvSpPr/>
          <p:nvPr/>
        </p:nvSpPr>
        <p:spPr>
          <a:xfrm>
            <a:off x="10091880" y="598176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endParaRPr b="0" lang="en-US" sz="1000" spc="-1" strike="noStrike">
              <a:solidFill>
                <a:srgbClr val="ffffff"/>
              </a:solidFill>
              <a:latin typeface="Arial"/>
            </a:endParaRPr>
          </a:p>
        </p:txBody>
      </p:sp>
      <p:grpSp>
        <p:nvGrpSpPr>
          <p:cNvPr id="250" name="Group 34"/>
          <p:cNvGrpSpPr/>
          <p:nvPr/>
        </p:nvGrpSpPr>
        <p:grpSpPr>
          <a:xfrm>
            <a:off x="2409120" y="5543640"/>
            <a:ext cx="720360" cy="829440"/>
            <a:chOff x="2409120" y="5543640"/>
            <a:chExt cx="720360" cy="829440"/>
          </a:xfrm>
        </p:grpSpPr>
        <p:sp>
          <p:nvSpPr>
            <p:cNvPr id="251" name="Freeform 42"/>
            <p:cNvSpPr/>
            <p:nvPr/>
          </p:nvSpPr>
          <p:spPr>
            <a:xfrm>
              <a:off x="2409120" y="57247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2" name="TextBox 87"/>
            <p:cNvSpPr/>
            <p:nvPr/>
          </p:nvSpPr>
          <p:spPr>
            <a:xfrm>
              <a:off x="2409120" y="554364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53" name="TextBox 88"/>
          <p:cNvSpPr/>
          <p:nvPr/>
        </p:nvSpPr>
        <p:spPr>
          <a:xfrm>
            <a:off x="2524320" y="5761800"/>
            <a:ext cx="562320" cy="52236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03</a:t>
            </a:r>
            <a:endParaRPr b="0" lang="en-US" sz="3309" spc="-1" strike="noStrike">
              <a:solidFill>
                <a:srgbClr val="ffffff"/>
              </a:solidFill>
              <a:latin typeface="Arial"/>
            </a:endParaRPr>
          </a:p>
        </p:txBody>
      </p:sp>
      <p:grpSp>
        <p:nvGrpSpPr>
          <p:cNvPr id="254" name="Group 35"/>
          <p:cNvGrpSpPr/>
          <p:nvPr/>
        </p:nvGrpSpPr>
        <p:grpSpPr>
          <a:xfrm>
            <a:off x="8843400" y="7065000"/>
            <a:ext cx="5584680" cy="1990800"/>
            <a:chOff x="8843400" y="7065000"/>
            <a:chExt cx="5584680" cy="1990800"/>
          </a:xfrm>
        </p:grpSpPr>
        <p:sp>
          <p:nvSpPr>
            <p:cNvPr id="255" name="Freeform 43"/>
            <p:cNvSpPr/>
            <p:nvPr/>
          </p:nvSpPr>
          <p:spPr>
            <a:xfrm>
              <a:off x="8843400" y="7188840"/>
              <a:ext cx="5584680" cy="1866960"/>
            </a:xfrm>
            <a:custGeom>
              <a:avLst/>
              <a:gdLst>
                <a:gd name="textAreaLeft" fmla="*/ 0 w 5584680"/>
                <a:gd name="textAreaRight" fmla="*/ 5585040 w 5584680"/>
                <a:gd name="textAreaTop" fmla="*/ 0 h 1866960"/>
                <a:gd name="textAreaBottom" fmla="*/ 1867320 h 186696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TextBox 89"/>
            <p:cNvSpPr/>
            <p:nvPr/>
          </p:nvSpPr>
          <p:spPr>
            <a:xfrm>
              <a:off x="8843400" y="7065000"/>
              <a:ext cx="5584680" cy="199080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57" name="Group 36"/>
          <p:cNvGrpSpPr/>
          <p:nvPr/>
        </p:nvGrpSpPr>
        <p:grpSpPr>
          <a:xfrm>
            <a:off x="9050760" y="7512120"/>
            <a:ext cx="720360" cy="829440"/>
            <a:chOff x="9050760" y="7512120"/>
            <a:chExt cx="720360" cy="829440"/>
          </a:xfrm>
        </p:grpSpPr>
        <p:sp>
          <p:nvSpPr>
            <p:cNvPr id="258" name="Freeform 44"/>
            <p:cNvSpPr/>
            <p:nvPr/>
          </p:nvSpPr>
          <p:spPr>
            <a:xfrm>
              <a:off x="9050760" y="76932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TextBox 90"/>
            <p:cNvSpPr/>
            <p:nvPr/>
          </p:nvSpPr>
          <p:spPr>
            <a:xfrm>
              <a:off x="9050760" y="751212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60" name="TextBox 91"/>
          <p:cNvSpPr/>
          <p:nvPr/>
        </p:nvSpPr>
        <p:spPr>
          <a:xfrm>
            <a:off x="9129960" y="783828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02</a:t>
            </a:r>
            <a:endParaRPr b="0" lang="en-US" sz="3309" spc="-1" strike="noStrike">
              <a:solidFill>
                <a:srgbClr val="ffffff"/>
              </a:solidFill>
              <a:latin typeface="Arial"/>
            </a:endParaRPr>
          </a:p>
        </p:txBody>
      </p:sp>
      <p:sp>
        <p:nvSpPr>
          <p:cNvPr id="261" name="TextBox 92"/>
          <p:cNvSpPr/>
          <p:nvPr/>
        </p:nvSpPr>
        <p:spPr>
          <a:xfrm>
            <a:off x="10082160" y="8335080"/>
            <a:ext cx="3978720" cy="59940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Boost products from trusted, high-performing sellers</a:t>
            </a:r>
            <a:endParaRPr b="0" lang="en-US" sz="2200" spc="-1" strike="noStrike">
              <a:solidFill>
                <a:srgbClr val="ffffff"/>
              </a:solidFill>
              <a:latin typeface="Arial"/>
            </a:endParaRPr>
          </a:p>
        </p:txBody>
      </p:sp>
      <p:sp>
        <p:nvSpPr>
          <p:cNvPr id="262" name="TextBox 93"/>
          <p:cNvSpPr/>
          <p:nvPr/>
        </p:nvSpPr>
        <p:spPr>
          <a:xfrm>
            <a:off x="10082160" y="790164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200" spc="-1" strike="noStrike">
                <a:solidFill>
                  <a:srgbClr val="ffffff"/>
                </a:solidFill>
                <a:latin typeface="Mina Bold"/>
                <a:ea typeface="Mina Bold"/>
              </a:rPr>
              <a:t>Seller Rating</a:t>
            </a:r>
            <a:endParaRPr b="0" lang="en-US" sz="2200" spc="-1" strike="noStrike">
              <a:solidFill>
                <a:srgbClr val="ffffff"/>
              </a:solidFill>
              <a:latin typeface="Arial"/>
            </a:endParaRPr>
          </a:p>
        </p:txBody>
      </p:sp>
      <p:grpSp>
        <p:nvGrpSpPr>
          <p:cNvPr id="263" name="Group 37"/>
          <p:cNvGrpSpPr/>
          <p:nvPr/>
        </p:nvGrpSpPr>
        <p:grpSpPr>
          <a:xfrm>
            <a:off x="9050760" y="7512840"/>
            <a:ext cx="720360" cy="829440"/>
            <a:chOff x="9050760" y="7512840"/>
            <a:chExt cx="720360" cy="829440"/>
          </a:xfrm>
        </p:grpSpPr>
        <p:sp>
          <p:nvSpPr>
            <p:cNvPr id="264" name="Freeform 45"/>
            <p:cNvSpPr/>
            <p:nvPr/>
          </p:nvSpPr>
          <p:spPr>
            <a:xfrm>
              <a:off x="9050760" y="76939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TextBox 94"/>
            <p:cNvSpPr/>
            <p:nvPr/>
          </p:nvSpPr>
          <p:spPr>
            <a:xfrm>
              <a:off x="9050760" y="751284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66" name="TextBox 95"/>
          <p:cNvSpPr/>
          <p:nvPr/>
        </p:nvSpPr>
        <p:spPr>
          <a:xfrm>
            <a:off x="9129960" y="783900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06</a:t>
            </a:r>
            <a:endParaRPr b="0" lang="en-US" sz="3309" spc="-1" strike="noStrike">
              <a:solidFill>
                <a:srgbClr val="ffffff"/>
              </a:solidFill>
              <a:latin typeface="Arial"/>
            </a:endParaRPr>
          </a:p>
        </p:txBody>
      </p:sp>
      <p:sp>
        <p:nvSpPr>
          <p:cNvPr id="267" name="TextBox 96"/>
          <p:cNvSpPr/>
          <p:nvPr/>
        </p:nvSpPr>
        <p:spPr>
          <a:xfrm>
            <a:off x="10082160" y="833580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endParaRPr b="0" lang="en-US" sz="2200" spc="-1" strike="noStrike">
              <a:solidFill>
                <a:srgbClr val="ffffff"/>
              </a:solidFill>
              <a:latin typeface="Arial"/>
            </a:endParaRPr>
          </a:p>
        </p:txBody>
      </p:sp>
      <p:sp>
        <p:nvSpPr>
          <p:cNvPr id="268" name="TextBox 97"/>
          <p:cNvSpPr/>
          <p:nvPr/>
        </p:nvSpPr>
        <p:spPr>
          <a:xfrm>
            <a:off x="10082160" y="790236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endParaRPr b="0" lang="en-US" sz="1000" spc="-1" strike="noStrike">
              <a:solidFill>
                <a:srgbClr val="ffffff"/>
              </a:solidFill>
              <a:latin typeface="Arial"/>
            </a:endParaRPr>
          </a:p>
        </p:txBody>
      </p:sp>
      <p:grpSp>
        <p:nvGrpSpPr>
          <p:cNvPr id="269" name="Group 38"/>
          <p:cNvGrpSpPr/>
          <p:nvPr/>
        </p:nvGrpSpPr>
        <p:grpSpPr>
          <a:xfrm>
            <a:off x="2178000" y="7081200"/>
            <a:ext cx="5584680" cy="1990800"/>
            <a:chOff x="2178000" y="7081200"/>
            <a:chExt cx="5584680" cy="1990800"/>
          </a:xfrm>
        </p:grpSpPr>
        <p:sp>
          <p:nvSpPr>
            <p:cNvPr id="270" name="Freeform 46"/>
            <p:cNvSpPr/>
            <p:nvPr/>
          </p:nvSpPr>
          <p:spPr>
            <a:xfrm>
              <a:off x="2178000" y="7205040"/>
              <a:ext cx="5584680" cy="1866960"/>
            </a:xfrm>
            <a:custGeom>
              <a:avLst/>
              <a:gdLst>
                <a:gd name="textAreaLeft" fmla="*/ 0 w 5584680"/>
                <a:gd name="textAreaRight" fmla="*/ 5585040 w 5584680"/>
                <a:gd name="textAreaTop" fmla="*/ 0 h 1866960"/>
                <a:gd name="textAreaBottom" fmla="*/ 1867320 h 1866960"/>
              </a:gdLst>
              <a:ahLst/>
              <a:rect l="textAreaLeft" t="textAreaTop" r="textAreaRight" b="textAreaBottom"/>
              <a:pathLst>
                <a:path w="1470998" h="717054">
                  <a:moveTo>
                    <a:pt x="15248" y="0"/>
                  </a:moveTo>
                  <a:lnTo>
                    <a:pt x="1455751" y="0"/>
                  </a:lnTo>
                  <a:cubicBezTo>
                    <a:pt x="1464172" y="0"/>
                    <a:pt x="1470998" y="6827"/>
                    <a:pt x="1470998" y="15248"/>
                  </a:cubicBezTo>
                  <a:lnTo>
                    <a:pt x="1470998" y="701806"/>
                  </a:lnTo>
                  <a:cubicBezTo>
                    <a:pt x="1470998" y="710227"/>
                    <a:pt x="1464172" y="717054"/>
                    <a:pt x="1455751" y="717054"/>
                  </a:cubicBezTo>
                  <a:lnTo>
                    <a:pt x="15248" y="717054"/>
                  </a:lnTo>
                  <a:cubicBezTo>
                    <a:pt x="6827" y="717054"/>
                    <a:pt x="0" y="710227"/>
                    <a:pt x="0" y="701806"/>
                  </a:cubicBezTo>
                  <a:lnTo>
                    <a:pt x="0" y="15248"/>
                  </a:lnTo>
                  <a:cubicBezTo>
                    <a:pt x="0" y="6827"/>
                    <a:pt x="6827" y="0"/>
                    <a:pt x="152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1" name="TextBox 98"/>
            <p:cNvSpPr/>
            <p:nvPr/>
          </p:nvSpPr>
          <p:spPr>
            <a:xfrm>
              <a:off x="2178000" y="7081200"/>
              <a:ext cx="5584680" cy="199080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grpSp>
        <p:nvGrpSpPr>
          <p:cNvPr id="272" name="Group 39"/>
          <p:cNvGrpSpPr/>
          <p:nvPr/>
        </p:nvGrpSpPr>
        <p:grpSpPr>
          <a:xfrm>
            <a:off x="2385360" y="7528320"/>
            <a:ext cx="720360" cy="829440"/>
            <a:chOff x="2385360" y="7528320"/>
            <a:chExt cx="720360" cy="829440"/>
          </a:xfrm>
        </p:grpSpPr>
        <p:sp>
          <p:nvSpPr>
            <p:cNvPr id="273" name="Freeform 47"/>
            <p:cNvSpPr/>
            <p:nvPr/>
          </p:nvSpPr>
          <p:spPr>
            <a:xfrm>
              <a:off x="2385360" y="770940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4" name="TextBox 99"/>
            <p:cNvSpPr/>
            <p:nvPr/>
          </p:nvSpPr>
          <p:spPr>
            <a:xfrm>
              <a:off x="2385360" y="752832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75" name="TextBox 100"/>
          <p:cNvSpPr/>
          <p:nvPr/>
        </p:nvSpPr>
        <p:spPr>
          <a:xfrm>
            <a:off x="2464560" y="785448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02</a:t>
            </a:r>
            <a:endParaRPr b="0" lang="en-US" sz="3309" spc="-1" strike="noStrike">
              <a:solidFill>
                <a:srgbClr val="ffffff"/>
              </a:solidFill>
              <a:latin typeface="Arial"/>
            </a:endParaRPr>
          </a:p>
        </p:txBody>
      </p:sp>
      <p:sp>
        <p:nvSpPr>
          <p:cNvPr id="276" name="TextBox 101"/>
          <p:cNvSpPr/>
          <p:nvPr/>
        </p:nvSpPr>
        <p:spPr>
          <a:xfrm>
            <a:off x="3416760" y="8016120"/>
            <a:ext cx="3978720" cy="89928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r>
              <a:rPr b="0" lang="en-US" sz="2200" spc="-1" strike="noStrike">
                <a:solidFill>
                  <a:srgbClr val="ffffff"/>
                </a:solidFill>
                <a:latin typeface="Mukta Light"/>
                <a:ea typeface="Mukta Light"/>
              </a:rPr>
              <a:t>Boost items with healthy stock levels; penalize or hide low-stock items.</a:t>
            </a:r>
            <a:endParaRPr b="0" lang="en-US" sz="2200" spc="-1" strike="noStrike">
              <a:solidFill>
                <a:srgbClr val="ffffff"/>
              </a:solidFill>
              <a:latin typeface="Arial"/>
            </a:endParaRPr>
          </a:p>
        </p:txBody>
      </p:sp>
      <p:sp>
        <p:nvSpPr>
          <p:cNvPr id="277" name="TextBox 102"/>
          <p:cNvSpPr/>
          <p:nvPr/>
        </p:nvSpPr>
        <p:spPr>
          <a:xfrm>
            <a:off x="3422880" y="758880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200" spc="-1" strike="noStrike">
                <a:solidFill>
                  <a:srgbClr val="ffffff"/>
                </a:solidFill>
                <a:latin typeface="Mina Bold"/>
                <a:ea typeface="Mina Bold"/>
              </a:rPr>
              <a:t>Inventory</a:t>
            </a:r>
            <a:endParaRPr b="0" lang="en-US" sz="2200" spc="-1" strike="noStrike">
              <a:solidFill>
                <a:srgbClr val="ffffff"/>
              </a:solidFill>
              <a:latin typeface="Arial"/>
            </a:endParaRPr>
          </a:p>
        </p:txBody>
      </p:sp>
      <p:grpSp>
        <p:nvGrpSpPr>
          <p:cNvPr id="278" name="Group 40"/>
          <p:cNvGrpSpPr/>
          <p:nvPr/>
        </p:nvGrpSpPr>
        <p:grpSpPr>
          <a:xfrm>
            <a:off x="2385360" y="7529040"/>
            <a:ext cx="720360" cy="829440"/>
            <a:chOff x="2385360" y="7529040"/>
            <a:chExt cx="720360" cy="829440"/>
          </a:xfrm>
        </p:grpSpPr>
        <p:sp>
          <p:nvSpPr>
            <p:cNvPr id="279" name="Freeform 48"/>
            <p:cNvSpPr/>
            <p:nvPr/>
          </p:nvSpPr>
          <p:spPr>
            <a:xfrm>
              <a:off x="2385360" y="7710120"/>
              <a:ext cx="720360" cy="648360"/>
            </a:xfrm>
            <a:custGeom>
              <a:avLst/>
              <a:gdLst>
                <a:gd name="textAreaLeft" fmla="*/ 0 w 720360"/>
                <a:gd name="textAreaRight" fmla="*/ 720720 w 720360"/>
                <a:gd name="textAreaTop" fmla="*/ 0 h 648360"/>
                <a:gd name="textAreaBottom" fmla="*/ 648720 h 648360"/>
              </a:gdLst>
              <a:ahLst/>
              <a:rect l="textAreaLeft" t="textAreaTop" r="textAreaRight" b="textAreaBottom"/>
              <a:pathLst>
                <a:path w="189855" h="170876">
                  <a:moveTo>
                    <a:pt x="85438" y="0"/>
                  </a:moveTo>
                  <a:lnTo>
                    <a:pt x="104417" y="0"/>
                  </a:lnTo>
                  <a:cubicBezTo>
                    <a:pt x="127077" y="0"/>
                    <a:pt x="148808" y="9001"/>
                    <a:pt x="164831" y="25024"/>
                  </a:cubicBezTo>
                  <a:cubicBezTo>
                    <a:pt x="180854" y="41047"/>
                    <a:pt x="189855" y="62779"/>
                    <a:pt x="189855" y="85438"/>
                  </a:cubicBezTo>
                  <a:lnTo>
                    <a:pt x="189855" y="85438"/>
                  </a:lnTo>
                  <a:cubicBezTo>
                    <a:pt x="189855" y="108098"/>
                    <a:pt x="180854" y="129829"/>
                    <a:pt x="164831" y="145852"/>
                  </a:cubicBezTo>
                  <a:cubicBezTo>
                    <a:pt x="148808" y="161875"/>
                    <a:pt x="127077" y="170876"/>
                    <a:pt x="104417" y="170876"/>
                  </a:cubicBezTo>
                  <a:lnTo>
                    <a:pt x="85438" y="170876"/>
                  </a:lnTo>
                  <a:cubicBezTo>
                    <a:pt x="62779" y="170876"/>
                    <a:pt x="41047" y="161875"/>
                    <a:pt x="25024" y="145852"/>
                  </a:cubicBezTo>
                  <a:cubicBezTo>
                    <a:pt x="9001" y="129829"/>
                    <a:pt x="0" y="108098"/>
                    <a:pt x="0" y="85438"/>
                  </a:cubicBezTo>
                  <a:lnTo>
                    <a:pt x="0" y="85438"/>
                  </a:lnTo>
                  <a:cubicBezTo>
                    <a:pt x="0" y="62779"/>
                    <a:pt x="9001" y="41047"/>
                    <a:pt x="25024" y="25024"/>
                  </a:cubicBezTo>
                  <a:cubicBezTo>
                    <a:pt x="41047" y="9001"/>
                    <a:pt x="62779" y="0"/>
                    <a:pt x="8543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TextBox 103"/>
            <p:cNvSpPr/>
            <p:nvPr/>
          </p:nvSpPr>
          <p:spPr>
            <a:xfrm>
              <a:off x="2385360" y="7529040"/>
              <a:ext cx="720360" cy="829440"/>
            </a:xfrm>
            <a:prstGeom prst="rect">
              <a:avLst/>
            </a:prstGeom>
            <a:noFill/>
            <a:ln w="0">
              <a:noFill/>
            </a:ln>
          </p:spPr>
          <p:style>
            <a:lnRef idx="0"/>
            <a:fillRef idx="0"/>
            <a:effectRef idx="0"/>
            <a:fontRef idx="minor"/>
          </p:style>
          <p:txBody>
            <a:bodyPr lIns="50760" rIns="50760" tIns="50760" bIns="50760" anchor="ctr">
              <a:noAutofit/>
            </a:bodyPr>
            <a:p>
              <a:endParaRPr b="0" lang="en-US" sz="1800" spc="-1" strike="noStrike">
                <a:solidFill>
                  <a:schemeClr val="dk1"/>
                </a:solidFill>
                <a:latin typeface="Calibri"/>
              </a:endParaRPr>
            </a:p>
          </p:txBody>
        </p:sp>
      </p:grpSp>
      <p:sp>
        <p:nvSpPr>
          <p:cNvPr id="281" name="TextBox 104"/>
          <p:cNvSpPr/>
          <p:nvPr/>
        </p:nvSpPr>
        <p:spPr>
          <a:xfrm>
            <a:off x="2464560" y="7855200"/>
            <a:ext cx="562320" cy="521640"/>
          </a:xfrm>
          <a:prstGeom prst="rect">
            <a:avLst/>
          </a:prstGeom>
          <a:noFill/>
          <a:ln w="0">
            <a:noFill/>
          </a:ln>
        </p:spPr>
        <p:style>
          <a:lnRef idx="0"/>
          <a:fillRef idx="0"/>
          <a:effectRef idx="0"/>
          <a:fontRef idx="minor"/>
        </p:style>
        <p:txBody>
          <a:bodyPr lIns="0" rIns="0" tIns="0" bIns="0" anchor="t">
            <a:spAutoFit/>
          </a:bodyPr>
          <a:p>
            <a:pPr algn="ctr" defTabSz="914400">
              <a:lnSpc>
                <a:spcPts val="4110"/>
              </a:lnSpc>
            </a:pPr>
            <a:r>
              <a:rPr b="0" lang="en-US" sz="3309" spc="-1" strike="noStrike">
                <a:solidFill>
                  <a:srgbClr val="ffffff"/>
                </a:solidFill>
                <a:latin typeface="Mina"/>
                <a:ea typeface="Mina"/>
              </a:rPr>
              <a:t>05</a:t>
            </a:r>
            <a:endParaRPr b="0" lang="en-US" sz="3309" spc="-1" strike="noStrike">
              <a:solidFill>
                <a:srgbClr val="ffffff"/>
              </a:solidFill>
              <a:latin typeface="Arial"/>
            </a:endParaRPr>
          </a:p>
        </p:txBody>
      </p:sp>
      <p:sp>
        <p:nvSpPr>
          <p:cNvPr id="282" name="TextBox 105"/>
          <p:cNvSpPr/>
          <p:nvPr/>
        </p:nvSpPr>
        <p:spPr>
          <a:xfrm>
            <a:off x="3416760" y="8352000"/>
            <a:ext cx="3978720" cy="300240"/>
          </a:xfrm>
          <a:prstGeom prst="rect">
            <a:avLst/>
          </a:prstGeom>
          <a:noFill/>
          <a:ln w="0">
            <a:noFill/>
          </a:ln>
        </p:spPr>
        <p:style>
          <a:lnRef idx="0"/>
          <a:fillRef idx="0"/>
          <a:effectRef idx="0"/>
          <a:fontRef idx="minor"/>
        </p:style>
        <p:txBody>
          <a:bodyPr lIns="0" rIns="0" tIns="0" bIns="0" anchor="t">
            <a:spAutoFit/>
          </a:bodyPr>
          <a:p>
            <a:pPr defTabSz="914400">
              <a:lnSpc>
                <a:spcPts val="2361"/>
              </a:lnSpc>
              <a:spcBef>
                <a:spcPts val="1191"/>
              </a:spcBef>
              <a:spcAft>
                <a:spcPts val="992"/>
              </a:spcAft>
            </a:pPr>
            <a:endParaRPr b="0" lang="en-US" sz="2200" spc="-1" strike="noStrike">
              <a:solidFill>
                <a:srgbClr val="ffffff"/>
              </a:solidFill>
              <a:latin typeface="Arial"/>
            </a:endParaRPr>
          </a:p>
        </p:txBody>
      </p:sp>
      <p:sp>
        <p:nvSpPr>
          <p:cNvPr id="283" name="TextBox 106"/>
          <p:cNvSpPr/>
          <p:nvPr/>
        </p:nvSpPr>
        <p:spPr>
          <a:xfrm>
            <a:off x="3416760" y="7918560"/>
            <a:ext cx="366876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284" name="Group 12"/>
          <p:cNvGrpSpPr/>
          <p:nvPr/>
        </p:nvGrpSpPr>
        <p:grpSpPr>
          <a:xfrm>
            <a:off x="2286000" y="6172200"/>
            <a:ext cx="13279680" cy="2604240"/>
            <a:chOff x="2286000" y="6172200"/>
            <a:chExt cx="13279680" cy="2604240"/>
          </a:xfrm>
        </p:grpSpPr>
        <p:sp>
          <p:nvSpPr>
            <p:cNvPr id="285" name="Freeform 13"/>
            <p:cNvSpPr/>
            <p:nvPr/>
          </p:nvSpPr>
          <p:spPr>
            <a:xfrm>
              <a:off x="2286000" y="6324840"/>
              <a:ext cx="13279680" cy="2451600"/>
            </a:xfrm>
            <a:custGeom>
              <a:avLst/>
              <a:gdLst>
                <a:gd name="textAreaLeft" fmla="*/ 0 w 13279680"/>
                <a:gd name="textAreaRight" fmla="*/ 13280040 w 13279680"/>
                <a:gd name="textAreaTop" fmla="*/ 0 h 2451600"/>
                <a:gd name="textAreaBottom" fmla="*/ 2451960 h 2451600"/>
              </a:gdLst>
              <a:ahLst/>
              <a:rect l="textAreaLeft" t="textAreaTop" r="textAreaRight" b="textAreaBottom"/>
              <a:pathLst>
                <a:path w="1290029" h="766083">
                  <a:moveTo>
                    <a:pt x="20625" y="0"/>
                  </a:moveTo>
                  <a:lnTo>
                    <a:pt x="1269403" y="0"/>
                  </a:lnTo>
                  <a:cubicBezTo>
                    <a:pt x="1280794" y="0"/>
                    <a:pt x="1290029" y="9234"/>
                    <a:pt x="1290029" y="20625"/>
                  </a:cubicBezTo>
                  <a:lnTo>
                    <a:pt x="1290029" y="745457"/>
                  </a:lnTo>
                  <a:cubicBezTo>
                    <a:pt x="1290029" y="756848"/>
                    <a:pt x="1280794" y="766083"/>
                    <a:pt x="1269403" y="766083"/>
                  </a:cubicBezTo>
                  <a:lnTo>
                    <a:pt x="20625" y="766083"/>
                  </a:lnTo>
                  <a:cubicBezTo>
                    <a:pt x="9234" y="766083"/>
                    <a:pt x="0" y="756848"/>
                    <a:pt x="0" y="745457"/>
                  </a:cubicBezTo>
                  <a:lnTo>
                    <a:pt x="0" y="20625"/>
                  </a:lnTo>
                  <a:cubicBezTo>
                    <a:pt x="0" y="9234"/>
                    <a:pt x="9234" y="0"/>
                    <a:pt x="20625"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6" name="TextBox 14"/>
            <p:cNvSpPr/>
            <p:nvPr/>
          </p:nvSpPr>
          <p:spPr>
            <a:xfrm>
              <a:off x="2286000" y="6172200"/>
              <a:ext cx="13279680" cy="2603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sp>
        <p:nvSpPr>
          <p:cNvPr id="287" name="TextBox 21"/>
          <p:cNvSpPr/>
          <p:nvPr/>
        </p:nvSpPr>
        <p:spPr>
          <a:xfrm>
            <a:off x="2765880" y="7046640"/>
            <a:ext cx="3375000" cy="808560"/>
          </a:xfrm>
          <a:prstGeom prst="rect">
            <a:avLst/>
          </a:prstGeom>
          <a:noFill/>
          <a:ln w="0">
            <a:noFill/>
          </a:ln>
        </p:spPr>
        <p:style>
          <a:lnRef idx="0"/>
          <a:fillRef idx="0"/>
          <a:effectRef idx="0"/>
          <a:fontRef idx="minor"/>
        </p:style>
        <p:txBody>
          <a:bodyPr lIns="0" rIns="0" tIns="0" bIns="0" anchor="t">
            <a:spAutoFit/>
          </a:bodyPr>
          <a:p>
            <a:pPr defTabSz="914400">
              <a:lnSpc>
                <a:spcPts val="2123"/>
              </a:lnSpc>
              <a:spcBef>
                <a:spcPts val="1191"/>
              </a:spcBef>
              <a:spcAft>
                <a:spcPts val="992"/>
              </a:spcAft>
            </a:pPr>
            <a:r>
              <a:rPr b="0" lang="en-US" sz="1800" spc="-1" strike="noStrike">
                <a:solidFill>
                  <a:srgbClr val="ffffff"/>
                </a:solidFill>
                <a:latin typeface="Mukta Light"/>
                <a:ea typeface="Mukta Light"/>
              </a:rPr>
              <a:t>ith dozens of signals (popularity, margin, stock, reviews), how do you prioritize</a:t>
            </a:r>
            <a:endParaRPr b="0" lang="en-US" sz="1800" spc="-1" strike="noStrike">
              <a:solidFill>
                <a:srgbClr val="ffffff"/>
              </a:solidFill>
              <a:latin typeface="Arial"/>
            </a:endParaRPr>
          </a:p>
        </p:txBody>
      </p:sp>
      <p:sp>
        <p:nvSpPr>
          <p:cNvPr id="288" name="TextBox 24"/>
          <p:cNvSpPr/>
          <p:nvPr/>
        </p:nvSpPr>
        <p:spPr>
          <a:xfrm>
            <a:off x="2765880" y="6481800"/>
            <a:ext cx="3648600" cy="278640"/>
          </a:xfrm>
          <a:prstGeom prst="rect">
            <a:avLst/>
          </a:prstGeom>
          <a:noFill/>
          <a:ln w="0">
            <a:noFill/>
          </a:ln>
        </p:spPr>
        <p:style>
          <a:lnRef idx="0"/>
          <a:fillRef idx="0"/>
          <a:effectRef idx="0"/>
          <a:fontRef idx="minor"/>
        </p:style>
        <p:txBody>
          <a:bodyPr lIns="0" rIns="0" tIns="0" bIns="0" anchor="t">
            <a:spAutoFit/>
          </a:bodyPr>
          <a:p>
            <a:pPr defTabSz="914400">
              <a:lnSpc>
                <a:spcPts val="2191"/>
              </a:lnSpc>
              <a:spcBef>
                <a:spcPts val="1191"/>
              </a:spcBef>
              <a:spcAft>
                <a:spcPts val="992"/>
              </a:spcAft>
            </a:pPr>
            <a:r>
              <a:rPr b="1" lang="en-US" sz="1760" spc="-1" strike="noStrike">
                <a:solidFill>
                  <a:srgbClr val="ffffff"/>
                </a:solidFill>
                <a:latin typeface="Mina Bold"/>
                <a:ea typeface="Mina Bold"/>
              </a:rPr>
              <a:t>The Challenge of Complexity</a:t>
            </a:r>
            <a:endParaRPr b="0" lang="en-US" sz="1760" spc="-1" strike="noStrike">
              <a:solidFill>
                <a:srgbClr val="ffffff"/>
              </a:solidFill>
              <a:latin typeface="Arial"/>
            </a:endParaRPr>
          </a:p>
        </p:txBody>
      </p:sp>
      <p:sp>
        <p:nvSpPr>
          <p:cNvPr id="289" name="Freeform 27"/>
          <p:cNvSpPr/>
          <p:nvPr/>
        </p:nvSpPr>
        <p:spPr>
          <a:xfrm rot="18069000">
            <a:off x="15822720" y="-174420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0" name="Freeform 29"/>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1" name="TextBox 83"/>
          <p:cNvSpPr/>
          <p:nvPr/>
        </p:nvSpPr>
        <p:spPr>
          <a:xfrm>
            <a:off x="1983960" y="1946520"/>
            <a:ext cx="14319360" cy="796680"/>
          </a:xfrm>
          <a:prstGeom prst="rect">
            <a:avLst/>
          </a:prstGeom>
          <a:noFill/>
          <a:ln w="0">
            <a:noFill/>
          </a:ln>
        </p:spPr>
        <p:style>
          <a:lnRef idx="0"/>
          <a:fillRef idx="0"/>
          <a:effectRef idx="0"/>
          <a:fontRef idx="minor"/>
        </p:style>
        <p:txBody>
          <a:bodyPr lIns="0" rIns="0" tIns="0" bIns="0" anchor="t">
            <a:spAutoFit/>
          </a:bodyPr>
          <a:p>
            <a:pPr algn="ctr" defTabSz="914400">
              <a:lnSpc>
                <a:spcPts val="6270"/>
              </a:lnSpc>
              <a:spcBef>
                <a:spcPts val="1191"/>
              </a:spcBef>
              <a:spcAft>
                <a:spcPts val="992"/>
              </a:spcAft>
            </a:pPr>
            <a:r>
              <a:rPr b="0" lang="en-US" sz="3200" spc="-1" strike="noStrike">
                <a:solidFill>
                  <a:srgbClr val="ffffff"/>
                </a:solidFill>
                <a:latin typeface="HK Modular"/>
                <a:ea typeface="HK Modular"/>
              </a:rPr>
              <a:t>Learning to Rank (LTR) - Uses machine learning </a:t>
            </a:r>
            <a:endParaRPr b="0" lang="en-US" sz="3200" spc="-1" strike="noStrike">
              <a:solidFill>
                <a:srgbClr val="ffffff"/>
              </a:solidFill>
              <a:latin typeface="Arial"/>
            </a:endParaRPr>
          </a:p>
        </p:txBody>
      </p:sp>
      <p:sp>
        <p:nvSpPr>
          <p:cNvPr id="292" name="TextBox 84"/>
          <p:cNvSpPr/>
          <p:nvPr/>
        </p:nvSpPr>
        <p:spPr>
          <a:xfrm>
            <a:off x="1983960" y="1473120"/>
            <a:ext cx="14319360" cy="796680"/>
          </a:xfrm>
          <a:prstGeom prst="rect">
            <a:avLst/>
          </a:prstGeom>
          <a:noFill/>
          <a:ln w="0">
            <a:noFill/>
          </a:ln>
        </p:spPr>
        <p:style>
          <a:lnRef idx="0"/>
          <a:fillRef idx="0"/>
          <a:effectRef idx="0"/>
          <a:fontRef idx="minor"/>
        </p:style>
        <p:txBody>
          <a:bodyPr lIns="0" rIns="0" tIns="0" bIns="0" anchor="t">
            <a:spAutoFit/>
          </a:bodyPr>
          <a:p>
            <a:pPr algn="ctr" defTabSz="914400">
              <a:lnSpc>
                <a:spcPts val="6270"/>
              </a:lnSpc>
              <a:spcBef>
                <a:spcPts val="1191"/>
              </a:spcBef>
              <a:spcAft>
                <a:spcPts val="992"/>
              </a:spcAft>
            </a:pPr>
            <a:r>
              <a:rPr b="0" lang="en-US" sz="4400" spc="-1" strike="noStrike">
                <a:solidFill>
                  <a:srgbClr val="ffffff"/>
                </a:solidFill>
                <a:latin typeface="HK Modular"/>
                <a:ea typeface="HK Modular"/>
              </a:rPr>
              <a:t>The Limits of Manual Tuning</a:t>
            </a:r>
            <a:endParaRPr b="0" lang="en-US" sz="4400" spc="-1" strike="noStrike">
              <a:solidFill>
                <a:srgbClr val="ffffff"/>
              </a:solidFill>
              <a:latin typeface="Arial"/>
            </a:endParaRPr>
          </a:p>
        </p:txBody>
      </p:sp>
      <p:sp>
        <p:nvSpPr>
          <p:cNvPr id="293" name=""/>
          <p:cNvSpPr txBox="1"/>
          <p:nvPr/>
        </p:nvSpPr>
        <p:spPr>
          <a:xfrm>
            <a:off x="2192040" y="3200400"/>
            <a:ext cx="13809960" cy="1340280"/>
          </a:xfrm>
          <a:prstGeom prst="rect">
            <a:avLst/>
          </a:prstGeom>
          <a:noFill/>
          <a:ln w="0">
            <a:noFill/>
          </a:ln>
        </p:spPr>
        <p:txBody>
          <a:bodyPr lIns="90000" rIns="90000" tIns="45000" bIns="45000" anchor="t">
            <a:noAutofit/>
          </a:bodyPr>
          <a:p>
            <a:r>
              <a:rPr b="0" lang="en-US" sz="2200" spc="-1" strike="noStrike">
                <a:solidFill>
                  <a:srgbClr val="ffffff"/>
                </a:solidFill>
                <a:latin typeface="Arial"/>
              </a:rPr>
              <a:t>Manual tuning refers to the process where human experts, such as merchandisers or search engineers, manually define and adjust the weights, boosts, and logic within the search algorithm (like `function_score` in Elasticsearch) to influence product ranking. This involves making qualitative decisions about the relative importance of various business signals and relevance factors.</a:t>
            </a:r>
            <a:endParaRPr b="0" lang="en-US" sz="2200" spc="-1" strike="noStrike">
              <a:solidFill>
                <a:srgbClr val="ffffff"/>
              </a:solidFill>
              <a:latin typeface="Arial"/>
            </a:endParaRPr>
          </a:p>
        </p:txBody>
      </p:sp>
      <p:sp>
        <p:nvSpPr>
          <p:cNvPr id="294" name="TextBox 5"/>
          <p:cNvSpPr/>
          <p:nvPr/>
        </p:nvSpPr>
        <p:spPr>
          <a:xfrm>
            <a:off x="7086600" y="7046640"/>
            <a:ext cx="3375000" cy="808560"/>
          </a:xfrm>
          <a:prstGeom prst="rect">
            <a:avLst/>
          </a:prstGeom>
          <a:noFill/>
          <a:ln w="0">
            <a:noFill/>
          </a:ln>
        </p:spPr>
        <p:style>
          <a:lnRef idx="0"/>
          <a:fillRef idx="0"/>
          <a:effectRef idx="0"/>
          <a:fontRef idx="minor"/>
        </p:style>
        <p:txBody>
          <a:bodyPr lIns="0" rIns="0" tIns="0" bIns="0" anchor="t">
            <a:spAutoFit/>
          </a:bodyPr>
          <a:p>
            <a:pPr defTabSz="914400">
              <a:lnSpc>
                <a:spcPts val="2123"/>
              </a:lnSpc>
              <a:spcBef>
                <a:spcPts val="1191"/>
              </a:spcBef>
              <a:spcAft>
                <a:spcPts val="992"/>
              </a:spcAft>
            </a:pPr>
            <a:r>
              <a:rPr b="0" lang="en-US" sz="1800" spc="-1" strike="noStrike">
                <a:solidFill>
                  <a:srgbClr val="ffffff"/>
                </a:solidFill>
                <a:latin typeface="Mukta Light"/>
                <a:ea typeface="Mukta Light"/>
              </a:rPr>
              <a:t>Is a 5-star review score more important than a 10% profit margin</a:t>
            </a:r>
            <a:endParaRPr b="0" lang="en-US" sz="1800" spc="-1" strike="noStrike">
              <a:solidFill>
                <a:srgbClr val="ffffff"/>
              </a:solidFill>
              <a:latin typeface="Arial"/>
            </a:endParaRPr>
          </a:p>
        </p:txBody>
      </p:sp>
      <p:sp>
        <p:nvSpPr>
          <p:cNvPr id="295" name="TextBox 85"/>
          <p:cNvSpPr/>
          <p:nvPr/>
        </p:nvSpPr>
        <p:spPr>
          <a:xfrm>
            <a:off x="11222280" y="7046640"/>
            <a:ext cx="3375000" cy="808560"/>
          </a:xfrm>
          <a:prstGeom prst="rect">
            <a:avLst/>
          </a:prstGeom>
          <a:noFill/>
          <a:ln w="0">
            <a:noFill/>
          </a:ln>
        </p:spPr>
        <p:style>
          <a:lnRef idx="0"/>
          <a:fillRef idx="0"/>
          <a:effectRef idx="0"/>
          <a:fontRef idx="minor"/>
        </p:style>
        <p:txBody>
          <a:bodyPr lIns="0" rIns="0" tIns="0" bIns="0" anchor="t">
            <a:spAutoFit/>
          </a:bodyPr>
          <a:p>
            <a:pPr defTabSz="914400">
              <a:lnSpc>
                <a:spcPts val="2123"/>
              </a:lnSpc>
              <a:spcBef>
                <a:spcPts val="1191"/>
              </a:spcBef>
              <a:spcAft>
                <a:spcPts val="992"/>
              </a:spcAft>
            </a:pPr>
            <a:r>
              <a:rPr b="0" lang="en-US" sz="1800" spc="-1" strike="noStrike">
                <a:solidFill>
                  <a:srgbClr val="ffffff"/>
                </a:solidFill>
                <a:latin typeface="Mukta Light"/>
                <a:ea typeface="Mukta Light"/>
              </a:rPr>
              <a:t>Is a product with 100 sales in the last 7 days better than one with 500 sales in the last 60 days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sp>
        <p:nvSpPr>
          <p:cNvPr id="296" name="Freeform 2"/>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7" name="Freeform 3"/>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298" name="Group 4"/>
          <p:cNvGrpSpPr/>
          <p:nvPr/>
        </p:nvGrpSpPr>
        <p:grpSpPr>
          <a:xfrm>
            <a:off x="1199520" y="5271480"/>
            <a:ext cx="15888240" cy="4329720"/>
            <a:chOff x="1199520" y="5271480"/>
            <a:chExt cx="15888240" cy="4329720"/>
          </a:xfrm>
        </p:grpSpPr>
        <p:sp>
          <p:nvSpPr>
            <p:cNvPr id="299" name="Freeform 5"/>
            <p:cNvSpPr/>
            <p:nvPr/>
          </p:nvSpPr>
          <p:spPr>
            <a:xfrm>
              <a:off x="1199520" y="5467680"/>
              <a:ext cx="15888240" cy="4133520"/>
            </a:xfrm>
            <a:custGeom>
              <a:avLst/>
              <a:gdLst>
                <a:gd name="textAreaLeft" fmla="*/ 0 w 15888240"/>
                <a:gd name="textAreaRight" fmla="*/ 15888600 w 15888240"/>
                <a:gd name="textAreaTop" fmla="*/ 0 h 4133520"/>
                <a:gd name="textAreaBottom" fmla="*/ 4133880 h 4133520"/>
              </a:gdLst>
              <a:ahLst/>
              <a:rect l="textAreaLeft" t="textAreaTop" r="textAreaRight" b="textAreaBottom"/>
              <a:pathLst>
                <a:path w="4184669" h="1002394">
                  <a:moveTo>
                    <a:pt x="5360" y="0"/>
                  </a:moveTo>
                  <a:lnTo>
                    <a:pt x="4179310" y="0"/>
                  </a:lnTo>
                  <a:cubicBezTo>
                    <a:pt x="4182270" y="0"/>
                    <a:pt x="4184669" y="2400"/>
                    <a:pt x="4184669" y="5360"/>
                  </a:cubicBezTo>
                  <a:lnTo>
                    <a:pt x="4184669" y="997034"/>
                  </a:lnTo>
                  <a:cubicBezTo>
                    <a:pt x="4184669" y="999994"/>
                    <a:pt x="4182270" y="1002394"/>
                    <a:pt x="4179310" y="1002394"/>
                  </a:cubicBezTo>
                  <a:lnTo>
                    <a:pt x="5360" y="1002394"/>
                  </a:lnTo>
                  <a:cubicBezTo>
                    <a:pt x="2400" y="1002394"/>
                    <a:pt x="0" y="999994"/>
                    <a:pt x="0" y="997034"/>
                  </a:cubicBezTo>
                  <a:lnTo>
                    <a:pt x="0" y="5360"/>
                  </a:lnTo>
                  <a:cubicBezTo>
                    <a:pt x="0" y="2400"/>
                    <a:pt x="2400" y="0"/>
                    <a:pt x="5360"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0" name="TextBox 6"/>
            <p:cNvSpPr/>
            <p:nvPr/>
          </p:nvSpPr>
          <p:spPr>
            <a:xfrm>
              <a:off x="1199520" y="5271480"/>
              <a:ext cx="15888240" cy="4329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301" name="Group 7"/>
          <p:cNvGrpSpPr/>
          <p:nvPr/>
        </p:nvGrpSpPr>
        <p:grpSpPr>
          <a:xfrm>
            <a:off x="1199520" y="1394280"/>
            <a:ext cx="7010280" cy="3072600"/>
            <a:chOff x="1199520" y="1394280"/>
            <a:chExt cx="7010280" cy="3072600"/>
          </a:xfrm>
        </p:grpSpPr>
        <p:sp>
          <p:nvSpPr>
            <p:cNvPr id="302" name="Freeform 8"/>
            <p:cNvSpPr/>
            <p:nvPr/>
          </p:nvSpPr>
          <p:spPr>
            <a:xfrm>
              <a:off x="1199520" y="1575000"/>
              <a:ext cx="7009920" cy="2891520"/>
            </a:xfrm>
            <a:custGeom>
              <a:avLst/>
              <a:gdLst>
                <a:gd name="textAreaLeft" fmla="*/ 0 w 7009920"/>
                <a:gd name="textAreaRight" fmla="*/ 7010280 w 7009920"/>
                <a:gd name="textAreaTop" fmla="*/ 0 h 2891520"/>
                <a:gd name="textAreaBottom" fmla="*/ 2891880 h 2891520"/>
              </a:gdLst>
              <a:ahLst/>
              <a:rect l="textAreaLeft" t="textAreaTop" r="textAreaRight" b="textAreaBottom"/>
              <a:pathLst>
                <a:path w="1846376" h="761669">
                  <a:moveTo>
                    <a:pt x="12148" y="0"/>
                  </a:moveTo>
                  <a:lnTo>
                    <a:pt x="1834229" y="0"/>
                  </a:lnTo>
                  <a:cubicBezTo>
                    <a:pt x="1840938" y="0"/>
                    <a:pt x="1846376" y="5439"/>
                    <a:pt x="1846376" y="12148"/>
                  </a:cubicBezTo>
                  <a:lnTo>
                    <a:pt x="1846376" y="749521"/>
                  </a:lnTo>
                  <a:cubicBezTo>
                    <a:pt x="1846376" y="756230"/>
                    <a:pt x="1840938" y="761669"/>
                    <a:pt x="1834229" y="761669"/>
                  </a:cubicBezTo>
                  <a:lnTo>
                    <a:pt x="12148" y="761669"/>
                  </a:lnTo>
                  <a:cubicBezTo>
                    <a:pt x="5439" y="761669"/>
                    <a:pt x="0" y="756230"/>
                    <a:pt x="0" y="749521"/>
                  </a:cubicBezTo>
                  <a:lnTo>
                    <a:pt x="0" y="12148"/>
                  </a:lnTo>
                  <a:cubicBezTo>
                    <a:pt x="0" y="5439"/>
                    <a:pt x="5439" y="0"/>
                    <a:pt x="121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3" name="TextBox 9"/>
            <p:cNvSpPr/>
            <p:nvPr/>
          </p:nvSpPr>
          <p:spPr>
            <a:xfrm>
              <a:off x="1199520" y="1394280"/>
              <a:ext cx="7010280" cy="30726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304" name="Group 10"/>
          <p:cNvGrpSpPr/>
          <p:nvPr/>
        </p:nvGrpSpPr>
        <p:grpSpPr>
          <a:xfrm>
            <a:off x="1383840" y="1418760"/>
            <a:ext cx="6982920" cy="2884680"/>
            <a:chOff x="1383840" y="1418760"/>
            <a:chExt cx="6982920" cy="2884680"/>
          </a:xfrm>
        </p:grpSpPr>
        <p:sp>
          <p:nvSpPr>
            <p:cNvPr id="305" name="Freeform 11"/>
            <p:cNvSpPr/>
            <p:nvPr/>
          </p:nvSpPr>
          <p:spPr>
            <a:xfrm>
              <a:off x="1383840" y="1418760"/>
              <a:ext cx="6982920" cy="2884680"/>
            </a:xfrm>
            <a:custGeom>
              <a:avLst/>
              <a:gdLst>
                <a:gd name="textAreaLeft" fmla="*/ 0 w 6982920"/>
                <a:gd name="textAreaRight" fmla="*/ 6983280 w 6982920"/>
                <a:gd name="textAreaTop" fmla="*/ 0 h 2884680"/>
                <a:gd name="textAreaBottom" fmla="*/ 2885040 h 2884680"/>
              </a:gdLst>
              <a:ahLst/>
              <a:rect l="textAreaLeft" t="textAreaTop" r="textAreaRight" b="textAreaBottom"/>
              <a:pathLst>
                <a:path w="1081913" h="446948">
                  <a:moveTo>
                    <a:pt x="8869" y="0"/>
                  </a:moveTo>
                  <a:lnTo>
                    <a:pt x="1073044" y="0"/>
                  </a:lnTo>
                  <a:cubicBezTo>
                    <a:pt x="1077942" y="0"/>
                    <a:pt x="1081913" y="3971"/>
                    <a:pt x="1081913" y="8869"/>
                  </a:cubicBezTo>
                  <a:lnTo>
                    <a:pt x="1081913" y="438079"/>
                  </a:lnTo>
                  <a:cubicBezTo>
                    <a:pt x="1081913" y="440431"/>
                    <a:pt x="1080979" y="442687"/>
                    <a:pt x="1079315" y="444350"/>
                  </a:cubicBezTo>
                  <a:cubicBezTo>
                    <a:pt x="1077652" y="446013"/>
                    <a:pt x="1075396" y="446948"/>
                    <a:pt x="1073044" y="446948"/>
                  </a:cubicBezTo>
                  <a:lnTo>
                    <a:pt x="8869" y="446948"/>
                  </a:lnTo>
                  <a:cubicBezTo>
                    <a:pt x="3971" y="446948"/>
                    <a:pt x="0" y="442977"/>
                    <a:pt x="0" y="438079"/>
                  </a:cubicBezTo>
                  <a:lnTo>
                    <a:pt x="0" y="8869"/>
                  </a:lnTo>
                  <a:cubicBezTo>
                    <a:pt x="0" y="3971"/>
                    <a:pt x="3971" y="0"/>
                    <a:pt x="8869"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06" name="TextBox 12"/>
          <p:cNvSpPr/>
          <p:nvPr/>
        </p:nvSpPr>
        <p:spPr>
          <a:xfrm>
            <a:off x="1918080" y="7288560"/>
            <a:ext cx="4450680" cy="63540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1" lang="en-US" sz="1800" spc="-1" strike="noStrike">
                <a:solidFill>
                  <a:srgbClr val="ffffff"/>
                </a:solidFill>
                <a:latin typeface="Mukta Light"/>
                <a:ea typeface="Mukta Light"/>
              </a:rPr>
              <a:t>Old Way (Rules) : </a:t>
            </a:r>
            <a:r>
              <a:rPr b="0" lang="en-US" sz="1800" spc="-1" strike="noStrike">
                <a:solidFill>
                  <a:srgbClr val="ffffff"/>
                </a:solidFill>
                <a:latin typeface="Mukta Light"/>
                <a:ea typeface="Mukta Light"/>
              </a:rPr>
              <a:t>We </a:t>
            </a:r>
            <a:r>
              <a:rPr b="1" lang="en-US" sz="1800" spc="-1" strike="noStrike">
                <a:solidFill>
                  <a:srgbClr val="ffffff"/>
                </a:solidFill>
                <a:latin typeface="Mukta Light"/>
                <a:ea typeface="Mukta Light"/>
              </a:rPr>
              <a:t>tell</a:t>
            </a:r>
            <a:r>
              <a:rPr b="0" lang="en-US" sz="1800" spc="-1" strike="noStrike">
                <a:solidFill>
                  <a:srgbClr val="ffffff"/>
                </a:solidFill>
                <a:latin typeface="Mukta Light"/>
                <a:ea typeface="Mukta Light"/>
              </a:rPr>
              <a:t> the system what we think is relevant</a:t>
            </a:r>
            <a:endParaRPr b="0" lang="en-US" sz="1800" spc="-1" strike="noStrike">
              <a:solidFill>
                <a:srgbClr val="ffffff"/>
              </a:solidFill>
              <a:latin typeface="Arial"/>
            </a:endParaRPr>
          </a:p>
        </p:txBody>
      </p:sp>
      <p:sp>
        <p:nvSpPr>
          <p:cNvPr id="307" name="TextBox 13"/>
          <p:cNvSpPr/>
          <p:nvPr/>
        </p:nvSpPr>
        <p:spPr>
          <a:xfrm>
            <a:off x="6918480" y="7288560"/>
            <a:ext cx="4450680" cy="127188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1" lang="en-US" sz="1800" spc="-1" strike="noStrike">
                <a:solidFill>
                  <a:srgbClr val="ffffff"/>
                </a:solidFill>
                <a:latin typeface="Mukta Light"/>
                <a:ea typeface="Mukta Light"/>
              </a:rPr>
              <a:t>Collect Training Data</a:t>
            </a:r>
            <a:br>
              <a:rPr sz="1800"/>
            </a:br>
            <a:r>
              <a:rPr b="0" lang="en-US" sz="1800" spc="-1" strike="noStrike">
                <a:solidFill>
                  <a:srgbClr val="ffffff"/>
                </a:solidFill>
                <a:latin typeface="Mukta Light"/>
                <a:ea typeface="Mukta Light"/>
              </a:rPr>
              <a:t>Log user queries and which products they click, add to cart, or purchase. These user actions are our "relevance judgments.</a:t>
            </a:r>
            <a:endParaRPr b="0" lang="en-US" sz="1800" spc="-1" strike="noStrike">
              <a:solidFill>
                <a:srgbClr val="ffffff"/>
              </a:solidFill>
              <a:latin typeface="Arial"/>
            </a:endParaRPr>
          </a:p>
        </p:txBody>
      </p:sp>
      <p:sp>
        <p:nvSpPr>
          <p:cNvPr id="308" name="TextBox 14"/>
          <p:cNvSpPr/>
          <p:nvPr/>
        </p:nvSpPr>
        <p:spPr>
          <a:xfrm>
            <a:off x="11928600" y="7288560"/>
            <a:ext cx="4450680" cy="63612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1" lang="en-US" sz="1800" spc="-1" strike="noStrike">
                <a:solidFill>
                  <a:srgbClr val="ffffff"/>
                </a:solidFill>
                <a:latin typeface="Mukta Light"/>
                <a:ea typeface="Mukta Light"/>
              </a:rPr>
              <a:t>Train an ML Model: </a:t>
            </a:r>
            <a:r>
              <a:rPr b="0" lang="en-US" sz="1800" spc="-1" strike="noStrike">
                <a:solidFill>
                  <a:srgbClr val="ffffff"/>
                </a:solidFill>
                <a:latin typeface="Mukta Light"/>
                <a:ea typeface="Mukta Light"/>
              </a:rPr>
              <a:t>trained to predict the probability of a user action</a:t>
            </a:r>
            <a:endParaRPr b="0" lang="en-US" sz="1800" spc="-1" strike="noStrike">
              <a:solidFill>
                <a:srgbClr val="ffffff"/>
              </a:solidFill>
              <a:latin typeface="Arial"/>
            </a:endParaRPr>
          </a:p>
        </p:txBody>
      </p:sp>
      <p:sp>
        <p:nvSpPr>
          <p:cNvPr id="309" name="TextBox 15"/>
          <p:cNvSpPr/>
          <p:nvPr/>
        </p:nvSpPr>
        <p:spPr>
          <a:xfrm>
            <a:off x="1910520" y="6723000"/>
            <a:ext cx="5000040" cy="369000"/>
          </a:xfrm>
          <a:prstGeom prst="rect">
            <a:avLst/>
          </a:prstGeom>
          <a:noFill/>
          <a:ln w="0">
            <a:noFill/>
          </a:ln>
        </p:spPr>
        <p:style>
          <a:lnRef idx="0"/>
          <a:fillRef idx="0"/>
          <a:effectRef idx="0"/>
          <a:fontRef idx="minor"/>
        </p:style>
        <p:txBody>
          <a:bodyPr lIns="0" rIns="0" tIns="0" bIns="0" anchor="t">
            <a:spAutoFit/>
          </a:bodyPr>
          <a:p>
            <a:pPr defTabSz="914400">
              <a:lnSpc>
                <a:spcPts val="2908"/>
              </a:lnSpc>
              <a:spcBef>
                <a:spcPts val="1191"/>
              </a:spcBef>
              <a:spcAft>
                <a:spcPts val="992"/>
              </a:spcAft>
            </a:pPr>
            <a:r>
              <a:rPr b="1" lang="en-US" sz="2340" spc="-1" strike="noStrike">
                <a:solidFill>
                  <a:srgbClr val="ffffff"/>
                </a:solidFill>
                <a:latin typeface="Mina Bold"/>
                <a:ea typeface="Mina Bold"/>
              </a:rPr>
              <a:t>A Shift in Mindset</a:t>
            </a:r>
            <a:endParaRPr b="0" lang="en-US" sz="2340" spc="-1" strike="noStrike">
              <a:solidFill>
                <a:srgbClr val="ffffff"/>
              </a:solidFill>
              <a:latin typeface="Arial"/>
            </a:endParaRPr>
          </a:p>
        </p:txBody>
      </p:sp>
      <p:sp>
        <p:nvSpPr>
          <p:cNvPr id="310" name="TextBox 16"/>
          <p:cNvSpPr/>
          <p:nvPr/>
        </p:nvSpPr>
        <p:spPr>
          <a:xfrm>
            <a:off x="1918080" y="5951160"/>
            <a:ext cx="562320" cy="521640"/>
          </a:xfrm>
          <a:prstGeom prst="rect">
            <a:avLst/>
          </a:prstGeom>
          <a:noFill/>
          <a:ln w="0">
            <a:noFill/>
          </a:ln>
        </p:spPr>
        <p:style>
          <a:lnRef idx="0"/>
          <a:fillRef idx="0"/>
          <a:effectRef idx="0"/>
          <a:fontRef idx="minor"/>
        </p:style>
        <p:txBody>
          <a:bodyPr lIns="0" rIns="0" tIns="0" bIns="0" anchor="t">
            <a:spAutoFit/>
          </a:bodyPr>
          <a:p>
            <a:pPr defTabSz="914400">
              <a:lnSpc>
                <a:spcPts val="4110"/>
              </a:lnSpc>
            </a:pPr>
            <a:r>
              <a:rPr b="0" lang="en-US" sz="3309" spc="-1" strike="noStrike">
                <a:solidFill>
                  <a:srgbClr val="ca4ad1"/>
                </a:solidFill>
                <a:latin typeface="Mina"/>
                <a:ea typeface="Mina"/>
              </a:rPr>
              <a:t>01</a:t>
            </a:r>
            <a:endParaRPr b="0" lang="en-US" sz="3309" spc="-1" strike="noStrike">
              <a:solidFill>
                <a:srgbClr val="ffffff"/>
              </a:solidFill>
              <a:latin typeface="Arial"/>
            </a:endParaRPr>
          </a:p>
        </p:txBody>
      </p:sp>
      <p:sp>
        <p:nvSpPr>
          <p:cNvPr id="311" name="TextBox 17"/>
          <p:cNvSpPr/>
          <p:nvPr/>
        </p:nvSpPr>
        <p:spPr>
          <a:xfrm>
            <a:off x="6918480" y="5951160"/>
            <a:ext cx="562320" cy="521640"/>
          </a:xfrm>
          <a:prstGeom prst="rect">
            <a:avLst/>
          </a:prstGeom>
          <a:noFill/>
          <a:ln w="0">
            <a:noFill/>
          </a:ln>
        </p:spPr>
        <p:style>
          <a:lnRef idx="0"/>
          <a:fillRef idx="0"/>
          <a:effectRef idx="0"/>
          <a:fontRef idx="minor"/>
        </p:style>
        <p:txBody>
          <a:bodyPr lIns="0" rIns="0" tIns="0" bIns="0" anchor="t">
            <a:spAutoFit/>
          </a:bodyPr>
          <a:p>
            <a:pPr defTabSz="914400">
              <a:lnSpc>
                <a:spcPts val="4110"/>
              </a:lnSpc>
            </a:pPr>
            <a:r>
              <a:rPr b="0" lang="en-US" sz="3309" spc="-1" strike="noStrike">
                <a:solidFill>
                  <a:srgbClr val="ca4ad1"/>
                </a:solidFill>
                <a:latin typeface="Mina"/>
                <a:ea typeface="Mina"/>
              </a:rPr>
              <a:t>02</a:t>
            </a:r>
            <a:endParaRPr b="0" lang="en-US" sz="3309" spc="-1" strike="noStrike">
              <a:solidFill>
                <a:srgbClr val="ffffff"/>
              </a:solidFill>
              <a:latin typeface="Arial"/>
            </a:endParaRPr>
          </a:p>
        </p:txBody>
      </p:sp>
      <p:sp>
        <p:nvSpPr>
          <p:cNvPr id="312" name="TextBox 19"/>
          <p:cNvSpPr/>
          <p:nvPr/>
        </p:nvSpPr>
        <p:spPr>
          <a:xfrm>
            <a:off x="8793360" y="1323360"/>
            <a:ext cx="8294760" cy="1593000"/>
          </a:xfrm>
          <a:prstGeom prst="rect">
            <a:avLst/>
          </a:prstGeom>
          <a:noFill/>
          <a:ln w="0">
            <a:noFill/>
          </a:ln>
        </p:spPr>
        <p:style>
          <a:lnRef idx="0"/>
          <a:fillRef idx="0"/>
          <a:effectRef idx="0"/>
          <a:fontRef idx="minor"/>
        </p:style>
        <p:txBody>
          <a:bodyPr lIns="0" rIns="0" tIns="0" bIns="0" anchor="t">
            <a:spAutoFit/>
          </a:bodyPr>
          <a:p>
            <a:pPr defTabSz="914400">
              <a:lnSpc>
                <a:spcPts val="6270"/>
              </a:lnSpc>
              <a:spcBef>
                <a:spcPts val="1191"/>
              </a:spcBef>
              <a:spcAft>
                <a:spcPts val="992"/>
              </a:spcAft>
            </a:pPr>
            <a:r>
              <a:rPr b="0" lang="en-US" sz="4480" spc="-1" strike="noStrike">
                <a:solidFill>
                  <a:srgbClr val="ffffff"/>
                </a:solidFill>
                <a:latin typeface="HK Modular"/>
                <a:ea typeface="HK Modular"/>
              </a:rPr>
              <a:t>The Solution: Learning to Rank (LTR)</a:t>
            </a:r>
            <a:endParaRPr b="0" lang="en-US" sz="4480" spc="-1" strike="noStrike">
              <a:solidFill>
                <a:srgbClr val="ffffff"/>
              </a:solidFill>
              <a:latin typeface="Arial"/>
            </a:endParaRPr>
          </a:p>
        </p:txBody>
      </p:sp>
      <p:sp>
        <p:nvSpPr>
          <p:cNvPr id="313" name="TextBox 20"/>
          <p:cNvSpPr/>
          <p:nvPr/>
        </p:nvSpPr>
        <p:spPr>
          <a:xfrm>
            <a:off x="8793360" y="3731400"/>
            <a:ext cx="8127360" cy="1073160"/>
          </a:xfrm>
          <a:prstGeom prst="rect">
            <a:avLst/>
          </a:prstGeom>
          <a:noFill/>
          <a:ln w="0">
            <a:noFill/>
          </a:ln>
        </p:spPr>
        <p:style>
          <a:lnRef idx="0"/>
          <a:fillRef idx="0"/>
          <a:effectRef idx="0"/>
          <a:fontRef idx="minor"/>
        </p:style>
        <p:txBody>
          <a:bodyPr lIns="0" rIns="0" tIns="0" bIns="0" anchor="t">
            <a:spAutoFit/>
          </a:bodyPr>
          <a:p>
            <a:pPr defTabSz="914400">
              <a:lnSpc>
                <a:spcPts val="2818"/>
              </a:lnSpc>
              <a:spcBef>
                <a:spcPts val="1191"/>
              </a:spcBef>
              <a:spcAft>
                <a:spcPts val="992"/>
              </a:spcAft>
            </a:pPr>
            <a:r>
              <a:rPr b="0" lang="en-US" sz="1790" spc="-1" strike="noStrike">
                <a:solidFill>
                  <a:srgbClr val="ffffff"/>
                </a:solidFill>
                <a:latin typeface="Mukta Light"/>
                <a:ea typeface="Mukta Light"/>
              </a:rPr>
              <a:t>LTR automates the complex tuning process. It looks at thousands of past user decisions to build a model that can score products far more accurately than any human-tuned formula. This is the move from being reactive to being predictive.</a:t>
            </a:r>
            <a:endParaRPr b="0" lang="en-US" sz="1790" spc="-1" strike="noStrike">
              <a:solidFill>
                <a:srgbClr val="ffffff"/>
              </a:solidFill>
              <a:latin typeface="Arial"/>
            </a:endParaRPr>
          </a:p>
        </p:txBody>
      </p:sp>
      <p:sp>
        <p:nvSpPr>
          <p:cNvPr id="314" name="TextBox 21"/>
          <p:cNvSpPr/>
          <p:nvPr/>
        </p:nvSpPr>
        <p:spPr>
          <a:xfrm>
            <a:off x="6910920" y="6723000"/>
            <a:ext cx="5000040" cy="369000"/>
          </a:xfrm>
          <a:prstGeom prst="rect">
            <a:avLst/>
          </a:prstGeom>
          <a:noFill/>
          <a:ln w="0">
            <a:noFill/>
          </a:ln>
        </p:spPr>
        <p:style>
          <a:lnRef idx="0"/>
          <a:fillRef idx="0"/>
          <a:effectRef idx="0"/>
          <a:fontRef idx="minor"/>
        </p:style>
        <p:txBody>
          <a:bodyPr lIns="0" rIns="0" tIns="0" bIns="0" anchor="t">
            <a:spAutoFit/>
          </a:bodyPr>
          <a:p>
            <a:pPr defTabSz="914400">
              <a:lnSpc>
                <a:spcPts val="2908"/>
              </a:lnSpc>
              <a:spcBef>
                <a:spcPts val="1191"/>
              </a:spcBef>
              <a:spcAft>
                <a:spcPts val="992"/>
              </a:spcAft>
            </a:pPr>
            <a:r>
              <a:rPr b="1" lang="en-US" sz="2340" spc="-1" strike="noStrike">
                <a:solidFill>
                  <a:srgbClr val="ffffff"/>
                </a:solidFill>
                <a:latin typeface="Mina Bold"/>
                <a:ea typeface="Mina Bold"/>
              </a:rPr>
              <a:t>How LTR Works in Practice</a:t>
            </a:r>
            <a:endParaRPr b="0" lang="en-US" sz="2340" spc="-1" strike="noStrike">
              <a:solidFill>
                <a:srgbClr val="ffffff"/>
              </a:solidFill>
              <a:latin typeface="Arial"/>
            </a:endParaRPr>
          </a:p>
        </p:txBody>
      </p:sp>
      <p:sp>
        <p:nvSpPr>
          <p:cNvPr id="315" name="TextBox 107"/>
          <p:cNvSpPr/>
          <p:nvPr/>
        </p:nvSpPr>
        <p:spPr>
          <a:xfrm>
            <a:off x="1936800" y="8280000"/>
            <a:ext cx="4450680" cy="63612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1" lang="en-US" sz="1800" spc="-1" strike="noStrike">
                <a:solidFill>
                  <a:srgbClr val="ffffff"/>
                </a:solidFill>
                <a:latin typeface="Mukta Light"/>
                <a:ea typeface="Mukta Light"/>
              </a:rPr>
              <a:t>New Way (LTR) :</a:t>
            </a:r>
            <a:r>
              <a:rPr b="0" lang="en-US" sz="1800" spc="-1" strike="noStrike">
                <a:solidFill>
                  <a:srgbClr val="ffffff"/>
                </a:solidFill>
                <a:latin typeface="Mukta Light"/>
                <a:ea typeface="Mukta Light"/>
              </a:rPr>
              <a:t> We let the system </a:t>
            </a:r>
            <a:r>
              <a:rPr b="1" lang="en-US" sz="1800" spc="-1" strike="noStrike">
                <a:solidFill>
                  <a:srgbClr val="ffffff"/>
                </a:solidFill>
                <a:latin typeface="Mukta Light"/>
                <a:ea typeface="Mukta Light"/>
              </a:rPr>
              <a:t>learn</a:t>
            </a:r>
            <a:r>
              <a:rPr b="0" lang="en-US" sz="1800" spc="-1" strike="noStrike">
                <a:solidFill>
                  <a:srgbClr val="ffffff"/>
                </a:solidFill>
                <a:latin typeface="Mukta Light"/>
                <a:ea typeface="Mukta Light"/>
              </a:rPr>
              <a:t> what is relevant from user behavior.t</a:t>
            </a:r>
            <a:endParaRPr b="0" lang="en-US" sz="1800" spc="-1" strike="noStrike">
              <a:solidFill>
                <a:srgbClr val="ffffff"/>
              </a:solidFill>
              <a:latin typeface="Arial"/>
            </a:endParaRPr>
          </a:p>
        </p:txBody>
      </p:sp>
      <p:sp>
        <p:nvSpPr>
          <p:cNvPr id="316" name="TextBox 108"/>
          <p:cNvSpPr/>
          <p:nvPr/>
        </p:nvSpPr>
        <p:spPr>
          <a:xfrm>
            <a:off x="11887200" y="8013600"/>
            <a:ext cx="4450680" cy="1271880"/>
          </a:xfrm>
          <a:prstGeom prst="rect">
            <a:avLst/>
          </a:prstGeom>
          <a:noFill/>
          <a:ln w="0">
            <a:noFill/>
          </a:ln>
        </p:spPr>
        <p:style>
          <a:lnRef idx="0"/>
          <a:fillRef idx="0"/>
          <a:effectRef idx="0"/>
          <a:fontRef idx="minor"/>
        </p:style>
        <p:txBody>
          <a:bodyPr lIns="0" rIns="0" tIns="0" bIns="0" anchor="t">
            <a:spAutoFit/>
          </a:bodyPr>
          <a:p>
            <a:pPr defTabSz="914400">
              <a:lnSpc>
                <a:spcPts val="2503"/>
              </a:lnSpc>
              <a:spcBef>
                <a:spcPts val="1191"/>
              </a:spcBef>
              <a:spcAft>
                <a:spcPts val="992"/>
              </a:spcAft>
            </a:pPr>
            <a:r>
              <a:rPr b="1" lang="en-US" sz="1800" spc="-1" strike="noStrike">
                <a:solidFill>
                  <a:srgbClr val="ffffff"/>
                </a:solidFill>
                <a:latin typeface="Mukta Light"/>
                <a:ea typeface="Mukta Light"/>
              </a:rPr>
              <a:t>Deploy to Elasticsearch</a:t>
            </a:r>
            <a:r>
              <a:rPr b="0" lang="en-US" sz="1800" spc="-1" strike="noStrike">
                <a:solidFill>
                  <a:srgbClr val="ffffff"/>
                </a:solidFill>
                <a:latin typeface="Mukta Light"/>
                <a:ea typeface="Mukta Light"/>
              </a:rPr>
              <a:t>:The trained model is uploaded to an Elasticsearch plugin and used to intelligently re-rank the top results for every query</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17" name="Freeform 2"/>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8" name="Freeform 3"/>
          <p:cNvSpPr/>
          <p:nvPr/>
        </p:nvSpPr>
        <p:spPr>
          <a:xfrm rot="18069000">
            <a:off x="15822720" y="-152604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319" name="Group 4"/>
          <p:cNvGrpSpPr/>
          <p:nvPr/>
        </p:nvGrpSpPr>
        <p:grpSpPr>
          <a:xfrm>
            <a:off x="1171080" y="4041000"/>
            <a:ext cx="7458480" cy="2387160"/>
            <a:chOff x="1171080" y="4041000"/>
            <a:chExt cx="7458480" cy="2387160"/>
          </a:xfrm>
        </p:grpSpPr>
        <p:sp>
          <p:nvSpPr>
            <p:cNvPr id="320" name="Freeform 5"/>
            <p:cNvSpPr/>
            <p:nvPr/>
          </p:nvSpPr>
          <p:spPr>
            <a:xfrm>
              <a:off x="1171080" y="4041000"/>
              <a:ext cx="7458480" cy="2387160"/>
            </a:xfrm>
            <a:custGeom>
              <a:avLst/>
              <a:gdLst>
                <a:gd name="textAreaLeft" fmla="*/ 0 w 7458480"/>
                <a:gd name="textAreaRight" fmla="*/ 7458840 w 7458480"/>
                <a:gd name="textAreaTop" fmla="*/ 0 h 2387160"/>
                <a:gd name="textAreaBottom" fmla="*/ 2387520 h 2387160"/>
              </a:gdLst>
              <a:ahLst/>
              <a:rect l="textAreaLeft" t="textAreaTop" r="textAreaRight" b="textAreaBottom"/>
              <a:pathLst>
                <a:path w="1155545" h="369880">
                  <a:moveTo>
                    <a:pt x="13494" y="0"/>
                  </a:moveTo>
                  <a:lnTo>
                    <a:pt x="1142051" y="0"/>
                  </a:lnTo>
                  <a:cubicBezTo>
                    <a:pt x="1149504" y="0"/>
                    <a:pt x="1155545" y="6041"/>
                    <a:pt x="1155545" y="13494"/>
                  </a:cubicBezTo>
                  <a:lnTo>
                    <a:pt x="1155545" y="356387"/>
                  </a:lnTo>
                  <a:cubicBezTo>
                    <a:pt x="1155545" y="363839"/>
                    <a:pt x="1149504" y="369880"/>
                    <a:pt x="1142051" y="369880"/>
                  </a:cubicBezTo>
                  <a:lnTo>
                    <a:pt x="13494" y="369880"/>
                  </a:lnTo>
                  <a:cubicBezTo>
                    <a:pt x="9915" y="369880"/>
                    <a:pt x="6483" y="368459"/>
                    <a:pt x="3952" y="365928"/>
                  </a:cubicBezTo>
                  <a:cubicBezTo>
                    <a:pt x="1422" y="363398"/>
                    <a:pt x="0" y="359966"/>
                    <a:pt x="0" y="356387"/>
                  </a:cubicBezTo>
                  <a:lnTo>
                    <a:pt x="0" y="13494"/>
                  </a:lnTo>
                  <a:cubicBezTo>
                    <a:pt x="0" y="6041"/>
                    <a:pt x="6041" y="0"/>
                    <a:pt x="13494"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21" name="Group 6"/>
          <p:cNvGrpSpPr/>
          <p:nvPr/>
        </p:nvGrpSpPr>
        <p:grpSpPr>
          <a:xfrm>
            <a:off x="9439200" y="4041000"/>
            <a:ext cx="7677360" cy="2387160"/>
            <a:chOff x="9439200" y="4041000"/>
            <a:chExt cx="7677360" cy="2387160"/>
          </a:xfrm>
        </p:grpSpPr>
        <p:sp>
          <p:nvSpPr>
            <p:cNvPr id="322" name="Freeform 7"/>
            <p:cNvSpPr/>
            <p:nvPr/>
          </p:nvSpPr>
          <p:spPr>
            <a:xfrm>
              <a:off x="9439200" y="4041000"/>
              <a:ext cx="7677360" cy="2387160"/>
            </a:xfrm>
            <a:custGeom>
              <a:avLst/>
              <a:gdLst>
                <a:gd name="textAreaLeft" fmla="*/ 0 w 7677360"/>
                <a:gd name="textAreaRight" fmla="*/ 7677720 w 7677360"/>
                <a:gd name="textAreaTop" fmla="*/ 0 h 2387160"/>
                <a:gd name="textAreaBottom" fmla="*/ 2387520 h 2387160"/>
              </a:gdLst>
              <a:ahLst/>
              <a:rect l="textAreaLeft" t="textAreaTop" r="textAreaRight" b="textAreaBottom"/>
              <a:pathLst>
                <a:path w="1189485" h="369880">
                  <a:moveTo>
                    <a:pt x="13109" y="0"/>
                  </a:moveTo>
                  <a:lnTo>
                    <a:pt x="1176377" y="0"/>
                  </a:lnTo>
                  <a:cubicBezTo>
                    <a:pt x="1183617" y="0"/>
                    <a:pt x="1189485" y="5869"/>
                    <a:pt x="1189485" y="13109"/>
                  </a:cubicBezTo>
                  <a:lnTo>
                    <a:pt x="1189485" y="356772"/>
                  </a:lnTo>
                  <a:cubicBezTo>
                    <a:pt x="1189485" y="364012"/>
                    <a:pt x="1183617" y="369880"/>
                    <a:pt x="1176377" y="369880"/>
                  </a:cubicBezTo>
                  <a:lnTo>
                    <a:pt x="13109" y="369880"/>
                  </a:lnTo>
                  <a:cubicBezTo>
                    <a:pt x="5869" y="369880"/>
                    <a:pt x="0" y="364012"/>
                    <a:pt x="0" y="356772"/>
                  </a:cubicBezTo>
                  <a:lnTo>
                    <a:pt x="0" y="13109"/>
                  </a:lnTo>
                  <a:cubicBezTo>
                    <a:pt x="0" y="5869"/>
                    <a:pt x="5869" y="0"/>
                    <a:pt x="13109" y="0"/>
                  </a:cubicBez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23" name="Group 8"/>
          <p:cNvGrpSpPr/>
          <p:nvPr/>
        </p:nvGrpSpPr>
        <p:grpSpPr>
          <a:xfrm>
            <a:off x="1171080" y="6040800"/>
            <a:ext cx="7458480" cy="2680200"/>
            <a:chOff x="1171080" y="6040800"/>
            <a:chExt cx="7458480" cy="2680200"/>
          </a:xfrm>
        </p:grpSpPr>
        <p:sp>
          <p:nvSpPr>
            <p:cNvPr id="324" name="Freeform 9"/>
            <p:cNvSpPr/>
            <p:nvPr/>
          </p:nvSpPr>
          <p:spPr>
            <a:xfrm>
              <a:off x="1171080" y="6221880"/>
              <a:ext cx="7458480" cy="2499120"/>
            </a:xfrm>
            <a:custGeom>
              <a:avLst/>
              <a:gdLst>
                <a:gd name="textAreaLeft" fmla="*/ 0 w 7458480"/>
                <a:gd name="textAreaRight" fmla="*/ 7458840 w 7458480"/>
                <a:gd name="textAreaTop" fmla="*/ 0 h 2499120"/>
                <a:gd name="textAreaBottom" fmla="*/ 2499480 h 2499120"/>
              </a:gdLst>
              <a:ahLst/>
              <a:rect l="textAreaLeft" t="textAreaTop" r="textAreaRight" b="textAreaBottom"/>
              <a:pathLst>
                <a:path w="1964426" h="658297">
                  <a:moveTo>
                    <a:pt x="11418" y="0"/>
                  </a:moveTo>
                  <a:lnTo>
                    <a:pt x="1953009" y="0"/>
                  </a:lnTo>
                  <a:cubicBezTo>
                    <a:pt x="1956037" y="0"/>
                    <a:pt x="1958941" y="1203"/>
                    <a:pt x="1961082" y="3344"/>
                  </a:cubicBezTo>
                  <a:cubicBezTo>
                    <a:pt x="1963223" y="5485"/>
                    <a:pt x="1964426" y="8390"/>
                    <a:pt x="1964426" y="11418"/>
                  </a:cubicBezTo>
                  <a:lnTo>
                    <a:pt x="1964426" y="646879"/>
                  </a:lnTo>
                  <a:cubicBezTo>
                    <a:pt x="1964426" y="649907"/>
                    <a:pt x="1963223" y="652812"/>
                    <a:pt x="1961082" y="654953"/>
                  </a:cubicBezTo>
                  <a:cubicBezTo>
                    <a:pt x="1958941" y="657094"/>
                    <a:pt x="1956037" y="658297"/>
                    <a:pt x="1953009" y="658297"/>
                  </a:cubicBezTo>
                  <a:lnTo>
                    <a:pt x="11418" y="658297"/>
                  </a:lnTo>
                  <a:cubicBezTo>
                    <a:pt x="8390" y="658297"/>
                    <a:pt x="5485" y="657094"/>
                    <a:pt x="3344" y="654953"/>
                  </a:cubicBezTo>
                  <a:cubicBezTo>
                    <a:pt x="1203" y="652812"/>
                    <a:pt x="0" y="649907"/>
                    <a:pt x="0" y="646879"/>
                  </a:cubicBezTo>
                  <a:lnTo>
                    <a:pt x="0" y="11418"/>
                  </a:lnTo>
                  <a:cubicBezTo>
                    <a:pt x="0" y="8390"/>
                    <a:pt x="1203" y="5485"/>
                    <a:pt x="3344" y="3344"/>
                  </a:cubicBezTo>
                  <a:cubicBezTo>
                    <a:pt x="5485" y="1203"/>
                    <a:pt x="8390" y="0"/>
                    <a:pt x="11418"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TextBox 10"/>
            <p:cNvSpPr/>
            <p:nvPr/>
          </p:nvSpPr>
          <p:spPr>
            <a:xfrm>
              <a:off x="1171080" y="6040800"/>
              <a:ext cx="7458480" cy="26798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326" name="Group 11"/>
          <p:cNvGrpSpPr/>
          <p:nvPr/>
        </p:nvGrpSpPr>
        <p:grpSpPr>
          <a:xfrm>
            <a:off x="9439200" y="6040800"/>
            <a:ext cx="7677360" cy="2680200"/>
            <a:chOff x="9439200" y="6040800"/>
            <a:chExt cx="7677360" cy="2680200"/>
          </a:xfrm>
        </p:grpSpPr>
        <p:sp>
          <p:nvSpPr>
            <p:cNvPr id="327" name="Freeform 12"/>
            <p:cNvSpPr/>
            <p:nvPr/>
          </p:nvSpPr>
          <p:spPr>
            <a:xfrm>
              <a:off x="9439200" y="6221880"/>
              <a:ext cx="7677360" cy="2499120"/>
            </a:xfrm>
            <a:custGeom>
              <a:avLst/>
              <a:gdLst>
                <a:gd name="textAreaLeft" fmla="*/ 0 w 7677360"/>
                <a:gd name="textAreaRight" fmla="*/ 7677720 w 7677360"/>
                <a:gd name="textAreaTop" fmla="*/ 0 h 2499120"/>
                <a:gd name="textAreaBottom" fmla="*/ 2499480 h 2499120"/>
              </a:gdLst>
              <a:ahLst/>
              <a:rect l="textAreaLeft" t="textAreaTop" r="textAreaRight" b="textAreaBottom"/>
              <a:pathLst>
                <a:path w="2022125" h="658297">
                  <a:moveTo>
                    <a:pt x="11092" y="0"/>
                  </a:moveTo>
                  <a:lnTo>
                    <a:pt x="2011033" y="0"/>
                  </a:lnTo>
                  <a:cubicBezTo>
                    <a:pt x="2013975" y="0"/>
                    <a:pt x="2016796" y="1169"/>
                    <a:pt x="2018876" y="3249"/>
                  </a:cubicBezTo>
                  <a:cubicBezTo>
                    <a:pt x="2020957" y="5329"/>
                    <a:pt x="2022125" y="8150"/>
                    <a:pt x="2022125" y="11092"/>
                  </a:cubicBezTo>
                  <a:lnTo>
                    <a:pt x="2022125" y="647205"/>
                  </a:lnTo>
                  <a:cubicBezTo>
                    <a:pt x="2022125" y="650147"/>
                    <a:pt x="2020957" y="652968"/>
                    <a:pt x="2018876" y="655048"/>
                  </a:cubicBezTo>
                  <a:cubicBezTo>
                    <a:pt x="2016796" y="657128"/>
                    <a:pt x="2013975" y="658297"/>
                    <a:pt x="2011033" y="658297"/>
                  </a:cubicBezTo>
                  <a:lnTo>
                    <a:pt x="11092" y="658297"/>
                  </a:lnTo>
                  <a:cubicBezTo>
                    <a:pt x="8150" y="658297"/>
                    <a:pt x="5329" y="657128"/>
                    <a:pt x="3249" y="655048"/>
                  </a:cubicBezTo>
                  <a:cubicBezTo>
                    <a:pt x="1169" y="652968"/>
                    <a:pt x="0" y="650147"/>
                    <a:pt x="0" y="647205"/>
                  </a:cubicBezTo>
                  <a:lnTo>
                    <a:pt x="0" y="11092"/>
                  </a:lnTo>
                  <a:cubicBezTo>
                    <a:pt x="0" y="8150"/>
                    <a:pt x="1169" y="5329"/>
                    <a:pt x="3249" y="3249"/>
                  </a:cubicBezTo>
                  <a:cubicBezTo>
                    <a:pt x="5329" y="1169"/>
                    <a:pt x="8150" y="0"/>
                    <a:pt x="11092" y="0"/>
                  </a:cubicBezTo>
                  <a:close/>
                </a:path>
              </a:pathLst>
            </a:custGeom>
            <a:solidFill>
              <a:srgbClr val="ca4ad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TextBox 13"/>
            <p:cNvSpPr/>
            <p:nvPr/>
          </p:nvSpPr>
          <p:spPr>
            <a:xfrm>
              <a:off x="9439200" y="6040800"/>
              <a:ext cx="7677360" cy="26798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sp>
        <p:nvSpPr>
          <p:cNvPr id="329" name="TextBox 14"/>
          <p:cNvSpPr/>
          <p:nvPr/>
        </p:nvSpPr>
        <p:spPr>
          <a:xfrm>
            <a:off x="1612800" y="7034040"/>
            <a:ext cx="6159240" cy="1279800"/>
          </a:xfrm>
          <a:prstGeom prst="rect">
            <a:avLst/>
          </a:prstGeom>
          <a:noFill/>
          <a:ln w="0">
            <a:noFill/>
          </a:ln>
        </p:spPr>
        <p:style>
          <a:lnRef idx="0"/>
          <a:fillRef idx="0"/>
          <a:effectRef idx="0"/>
          <a:fontRef idx="minor"/>
        </p:style>
        <p:txBody>
          <a:bodyPr lIns="0" rIns="0" tIns="0" bIns="0" anchor="t">
            <a:spAutoFit/>
          </a:bodyPr>
          <a:p>
            <a:pPr defTabSz="914400">
              <a:lnSpc>
                <a:spcPts val="2520"/>
              </a:lnSpc>
              <a:spcBef>
                <a:spcPts val="1191"/>
              </a:spcBef>
              <a:spcAft>
                <a:spcPts val="992"/>
              </a:spcAft>
            </a:pPr>
            <a:r>
              <a:rPr b="0" lang="en-US" sz="2200" spc="-1" strike="noStrike">
                <a:solidFill>
                  <a:srgbClr val="ffffff"/>
                </a:solidFill>
                <a:latin typeface="Mukta Light"/>
                <a:ea typeface="Mukta Light"/>
              </a:rPr>
              <a:t>Goes beyond keywords to understand the meaning behind a query.</a:t>
            </a:r>
            <a:br>
              <a:rPr sz="2200"/>
            </a:br>
            <a:r>
              <a:rPr b="0" lang="en-US" sz="2200" spc="-1" strike="noStrike">
                <a:solidFill>
                  <a:srgbClr val="ffffff"/>
                </a:solidFill>
                <a:latin typeface="Mukta Light"/>
                <a:ea typeface="Mukta Light"/>
              </a:rPr>
              <a:t>Powered by machine learning models  to create embeddings</a:t>
            </a:r>
            <a:endParaRPr b="0" lang="en-US" sz="2200" spc="-1" strike="noStrike">
              <a:solidFill>
                <a:srgbClr val="ffffff"/>
              </a:solidFill>
              <a:latin typeface="Arial"/>
            </a:endParaRPr>
          </a:p>
        </p:txBody>
      </p:sp>
      <p:sp>
        <p:nvSpPr>
          <p:cNvPr id="330" name="TextBox 15"/>
          <p:cNvSpPr/>
          <p:nvPr/>
        </p:nvSpPr>
        <p:spPr>
          <a:xfrm>
            <a:off x="9880920" y="7034040"/>
            <a:ext cx="6851520" cy="960480"/>
          </a:xfrm>
          <a:prstGeom prst="rect">
            <a:avLst/>
          </a:prstGeom>
          <a:noFill/>
          <a:ln w="0">
            <a:noFill/>
          </a:ln>
        </p:spPr>
        <p:style>
          <a:lnRef idx="0"/>
          <a:fillRef idx="0"/>
          <a:effectRef idx="0"/>
          <a:fontRef idx="minor"/>
        </p:style>
        <p:txBody>
          <a:bodyPr lIns="0" rIns="0" tIns="0" bIns="0" anchor="t">
            <a:spAutoFit/>
          </a:bodyPr>
          <a:p>
            <a:pPr defTabSz="914400">
              <a:lnSpc>
                <a:spcPts val="2520"/>
              </a:lnSpc>
              <a:spcBef>
                <a:spcPts val="1191"/>
              </a:spcBef>
              <a:spcAft>
                <a:spcPts val="992"/>
              </a:spcAft>
            </a:pPr>
            <a:r>
              <a:rPr b="0" lang="en-US" sz="1800" spc="-1" strike="noStrike">
                <a:solidFill>
                  <a:srgbClr val="ffffff"/>
                </a:solidFill>
                <a:latin typeface="Mukta Light"/>
                <a:ea typeface="Mukta Light"/>
              </a:rPr>
              <a:t>Using Large Language Models  to re-rank the top 20-50 results from Elasticsearch for ultimate relevance, providing a conversational and nuanced ordering.</a:t>
            </a:r>
            <a:endParaRPr b="0" lang="en-US" sz="1800" spc="-1" strike="noStrike">
              <a:solidFill>
                <a:srgbClr val="ffffff"/>
              </a:solidFill>
              <a:latin typeface="Arial"/>
            </a:endParaRPr>
          </a:p>
        </p:txBody>
      </p:sp>
      <p:sp>
        <p:nvSpPr>
          <p:cNvPr id="331" name="TextBox 16"/>
          <p:cNvSpPr/>
          <p:nvPr/>
        </p:nvSpPr>
        <p:spPr>
          <a:xfrm>
            <a:off x="1583280" y="6532200"/>
            <a:ext cx="5960520" cy="33048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200" spc="-1" strike="noStrike">
                <a:solidFill>
                  <a:srgbClr val="ffffff"/>
                </a:solidFill>
                <a:latin typeface="Mina Bold"/>
                <a:ea typeface="Mina Bold"/>
              </a:rPr>
              <a:t>Vector Search &amp; Hyper-Personalization</a:t>
            </a:r>
            <a:endParaRPr b="0" lang="en-US" sz="2200" spc="-1" strike="noStrike">
              <a:solidFill>
                <a:srgbClr val="ffffff"/>
              </a:solidFill>
              <a:latin typeface="Arial"/>
            </a:endParaRPr>
          </a:p>
        </p:txBody>
      </p:sp>
      <p:sp>
        <p:nvSpPr>
          <p:cNvPr id="332" name="TextBox 17"/>
          <p:cNvSpPr/>
          <p:nvPr/>
        </p:nvSpPr>
        <p:spPr>
          <a:xfrm>
            <a:off x="9851400" y="6532200"/>
            <a:ext cx="6880680" cy="329760"/>
          </a:xfrm>
          <a:prstGeom prst="rect">
            <a:avLst/>
          </a:prstGeom>
          <a:noFill/>
          <a:ln w="0">
            <a:noFill/>
          </a:ln>
        </p:spPr>
        <p:style>
          <a:lnRef idx="0"/>
          <a:fillRef idx="0"/>
          <a:effectRef idx="0"/>
          <a:fontRef idx="minor"/>
        </p:style>
        <p:txBody>
          <a:bodyPr lIns="0" rIns="0" tIns="0" bIns="0" anchor="t">
            <a:spAutoFit/>
          </a:bodyPr>
          <a:p>
            <a:pPr defTabSz="914400">
              <a:lnSpc>
                <a:spcPts val="2599"/>
              </a:lnSpc>
              <a:spcBef>
                <a:spcPts val="1191"/>
              </a:spcBef>
              <a:spcAft>
                <a:spcPts val="992"/>
              </a:spcAft>
            </a:pPr>
            <a:r>
              <a:rPr b="1" lang="en-US" sz="2090" spc="-1" strike="noStrike">
                <a:solidFill>
                  <a:srgbClr val="ffffff"/>
                </a:solidFill>
                <a:latin typeface="Mina Bold"/>
                <a:ea typeface="Mina Bold"/>
              </a:rPr>
              <a:t>LLM Re-ranking</a:t>
            </a:r>
            <a:endParaRPr b="0" lang="en-US" sz="2090" spc="-1" strike="noStrike">
              <a:solidFill>
                <a:srgbClr val="ffffff"/>
              </a:solidFill>
              <a:latin typeface="Arial"/>
            </a:endParaRPr>
          </a:p>
        </p:txBody>
      </p:sp>
      <p:sp>
        <p:nvSpPr>
          <p:cNvPr id="333" name="TextBox 18"/>
          <p:cNvSpPr/>
          <p:nvPr/>
        </p:nvSpPr>
        <p:spPr>
          <a:xfrm>
            <a:off x="1983960" y="1470600"/>
            <a:ext cx="14319360" cy="796680"/>
          </a:xfrm>
          <a:prstGeom prst="rect">
            <a:avLst/>
          </a:prstGeom>
          <a:noFill/>
          <a:ln w="0">
            <a:noFill/>
          </a:ln>
        </p:spPr>
        <p:style>
          <a:lnRef idx="0"/>
          <a:fillRef idx="0"/>
          <a:effectRef idx="0"/>
          <a:fontRef idx="minor"/>
        </p:style>
        <p:txBody>
          <a:bodyPr lIns="0" rIns="0" tIns="0" bIns="0" anchor="t">
            <a:spAutoFit/>
          </a:bodyPr>
          <a:p>
            <a:pPr algn="ctr" defTabSz="914400">
              <a:lnSpc>
                <a:spcPts val="6270"/>
              </a:lnSpc>
              <a:spcBef>
                <a:spcPts val="1191"/>
              </a:spcBef>
              <a:spcAft>
                <a:spcPts val="992"/>
              </a:spcAft>
            </a:pPr>
            <a:r>
              <a:rPr b="0" lang="en-US" sz="4480" spc="-1" strike="noStrike">
                <a:solidFill>
                  <a:srgbClr val="ffffff"/>
                </a:solidFill>
                <a:latin typeface="HK Modular"/>
                <a:ea typeface="HK Modular"/>
              </a:rPr>
              <a:t>The Future of Ranking</a:t>
            </a:r>
            <a:endParaRPr b="0" lang="en-US" sz="44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0b15"/>
        </a:solidFill>
      </p:bgPr>
    </p:bg>
    <p:spTree>
      <p:nvGrpSpPr>
        <p:cNvPr id="1" name=""/>
        <p:cNvGrpSpPr/>
        <p:nvPr/>
      </p:nvGrpSpPr>
      <p:grpSpPr>
        <a:xfrm>
          <a:off x="0" y="0"/>
          <a:ext cx="0" cy="0"/>
          <a:chOff x="0" y="0"/>
          <a:chExt cx="0" cy="0"/>
        </a:xfrm>
      </p:grpSpPr>
      <p:sp>
        <p:nvSpPr>
          <p:cNvPr id="334" name="Freeform 2"/>
          <p:cNvSpPr/>
          <p:nvPr/>
        </p:nvSpPr>
        <p:spPr>
          <a:xfrm rot="18069000">
            <a:off x="-971640" y="68929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3" y="0"/>
                </a:lnTo>
                <a:lnTo>
                  <a:pt x="2873123" y="5430302"/>
                </a:lnTo>
                <a:lnTo>
                  <a:pt x="0" y="54303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5" name="Freeform 3"/>
          <p:cNvSpPr/>
          <p:nvPr/>
        </p:nvSpPr>
        <p:spPr>
          <a:xfrm rot="18069000">
            <a:off x="15651720" y="-2328120"/>
            <a:ext cx="2872800" cy="5429880"/>
          </a:xfrm>
          <a:custGeom>
            <a:avLst/>
            <a:gdLst>
              <a:gd name="textAreaLeft" fmla="*/ 0 w 2872800"/>
              <a:gd name="textAreaRight" fmla="*/ 2873160 w 2872800"/>
              <a:gd name="textAreaTop" fmla="*/ 0 h 5429880"/>
              <a:gd name="textAreaBottom" fmla="*/ 5430240 h 5429880"/>
            </a:gdLst>
            <a:ahLst/>
            <a:rect l="textAreaLeft" t="textAreaTop" r="textAreaRight" b="textAreaBottom"/>
            <a:pathLst>
              <a:path w="2873124" h="5430302">
                <a:moveTo>
                  <a:pt x="0" y="0"/>
                </a:moveTo>
                <a:lnTo>
                  <a:pt x="2873124" y="0"/>
                </a:lnTo>
                <a:lnTo>
                  <a:pt x="2873124" y="5430302"/>
                </a:lnTo>
                <a:lnTo>
                  <a:pt x="0" y="54303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nvGrpSpPr>
          <p:cNvPr id="336" name="Group 4"/>
          <p:cNvGrpSpPr/>
          <p:nvPr/>
        </p:nvGrpSpPr>
        <p:grpSpPr>
          <a:xfrm>
            <a:off x="1184040" y="5547240"/>
            <a:ext cx="15888240" cy="3986280"/>
            <a:chOff x="1184040" y="5547240"/>
            <a:chExt cx="15888240" cy="3986280"/>
          </a:xfrm>
        </p:grpSpPr>
        <p:sp>
          <p:nvSpPr>
            <p:cNvPr id="337" name="Freeform 5"/>
            <p:cNvSpPr/>
            <p:nvPr/>
          </p:nvSpPr>
          <p:spPr>
            <a:xfrm>
              <a:off x="1184040" y="5727960"/>
              <a:ext cx="15888240" cy="3805560"/>
            </a:xfrm>
            <a:custGeom>
              <a:avLst/>
              <a:gdLst>
                <a:gd name="textAreaLeft" fmla="*/ 0 w 15888240"/>
                <a:gd name="textAreaRight" fmla="*/ 15888600 w 15888240"/>
                <a:gd name="textAreaTop" fmla="*/ 0 h 3805560"/>
                <a:gd name="textAreaBottom" fmla="*/ 3805920 h 3805560"/>
              </a:gdLst>
              <a:ahLst/>
              <a:rect l="textAreaLeft" t="textAreaTop" r="textAreaRight" b="textAreaBottom"/>
              <a:pathLst>
                <a:path w="4184669" h="1002394">
                  <a:moveTo>
                    <a:pt x="5360" y="0"/>
                  </a:moveTo>
                  <a:lnTo>
                    <a:pt x="4179310" y="0"/>
                  </a:lnTo>
                  <a:cubicBezTo>
                    <a:pt x="4182270" y="0"/>
                    <a:pt x="4184669" y="2400"/>
                    <a:pt x="4184669" y="5360"/>
                  </a:cubicBezTo>
                  <a:lnTo>
                    <a:pt x="4184669" y="997034"/>
                  </a:lnTo>
                  <a:cubicBezTo>
                    <a:pt x="4184669" y="999994"/>
                    <a:pt x="4182270" y="1002394"/>
                    <a:pt x="4179310" y="1002394"/>
                  </a:cubicBezTo>
                  <a:lnTo>
                    <a:pt x="5360" y="1002394"/>
                  </a:lnTo>
                  <a:cubicBezTo>
                    <a:pt x="2400" y="1002394"/>
                    <a:pt x="0" y="999994"/>
                    <a:pt x="0" y="997034"/>
                  </a:cubicBezTo>
                  <a:lnTo>
                    <a:pt x="0" y="5360"/>
                  </a:lnTo>
                  <a:cubicBezTo>
                    <a:pt x="0" y="2400"/>
                    <a:pt x="2400" y="0"/>
                    <a:pt x="5360"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8" name="TextBox 6"/>
            <p:cNvSpPr/>
            <p:nvPr/>
          </p:nvSpPr>
          <p:spPr>
            <a:xfrm>
              <a:off x="1184040" y="5547240"/>
              <a:ext cx="15888240" cy="3986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339" name="Group 7"/>
          <p:cNvGrpSpPr/>
          <p:nvPr/>
        </p:nvGrpSpPr>
        <p:grpSpPr>
          <a:xfrm>
            <a:off x="1199520" y="1394280"/>
            <a:ext cx="7010280" cy="3072600"/>
            <a:chOff x="1199520" y="1394280"/>
            <a:chExt cx="7010280" cy="3072600"/>
          </a:xfrm>
        </p:grpSpPr>
        <p:sp>
          <p:nvSpPr>
            <p:cNvPr id="340" name="Freeform 8"/>
            <p:cNvSpPr/>
            <p:nvPr/>
          </p:nvSpPr>
          <p:spPr>
            <a:xfrm>
              <a:off x="1199520" y="1575000"/>
              <a:ext cx="7009920" cy="2891520"/>
            </a:xfrm>
            <a:custGeom>
              <a:avLst/>
              <a:gdLst>
                <a:gd name="textAreaLeft" fmla="*/ 0 w 7009920"/>
                <a:gd name="textAreaRight" fmla="*/ 7010280 w 7009920"/>
                <a:gd name="textAreaTop" fmla="*/ 0 h 2891520"/>
                <a:gd name="textAreaBottom" fmla="*/ 2891880 h 2891520"/>
              </a:gdLst>
              <a:ahLst/>
              <a:rect l="textAreaLeft" t="textAreaTop" r="textAreaRight" b="textAreaBottom"/>
              <a:pathLst>
                <a:path w="1846376" h="761669">
                  <a:moveTo>
                    <a:pt x="12148" y="0"/>
                  </a:moveTo>
                  <a:lnTo>
                    <a:pt x="1834229" y="0"/>
                  </a:lnTo>
                  <a:cubicBezTo>
                    <a:pt x="1840938" y="0"/>
                    <a:pt x="1846376" y="5439"/>
                    <a:pt x="1846376" y="12148"/>
                  </a:cubicBezTo>
                  <a:lnTo>
                    <a:pt x="1846376" y="749521"/>
                  </a:lnTo>
                  <a:cubicBezTo>
                    <a:pt x="1846376" y="756230"/>
                    <a:pt x="1840938" y="761669"/>
                    <a:pt x="1834229" y="761669"/>
                  </a:cubicBezTo>
                  <a:lnTo>
                    <a:pt x="12148" y="761669"/>
                  </a:lnTo>
                  <a:cubicBezTo>
                    <a:pt x="5439" y="761669"/>
                    <a:pt x="0" y="756230"/>
                    <a:pt x="0" y="749521"/>
                  </a:cubicBezTo>
                  <a:lnTo>
                    <a:pt x="0" y="12148"/>
                  </a:lnTo>
                  <a:cubicBezTo>
                    <a:pt x="0" y="5439"/>
                    <a:pt x="5439" y="0"/>
                    <a:pt x="12148" y="0"/>
                  </a:cubicBezTo>
                  <a:close/>
                </a:path>
              </a:pathLst>
            </a:custGeom>
            <a:solidFill>
              <a:srgbClr val="532c49">
                <a:alpha val="4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1" name="TextBox 9"/>
            <p:cNvSpPr/>
            <p:nvPr/>
          </p:nvSpPr>
          <p:spPr>
            <a:xfrm>
              <a:off x="1199520" y="1394280"/>
              <a:ext cx="7010280" cy="30726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3546"/>
                </a:lnSpc>
              </a:pPr>
              <a:endParaRPr b="0" lang="en-US" sz="1800" spc="-1" strike="noStrike">
                <a:solidFill>
                  <a:schemeClr val="dk1"/>
                </a:solidFill>
                <a:latin typeface="Calibri"/>
              </a:endParaRPr>
            </a:p>
          </p:txBody>
        </p:sp>
      </p:grpSp>
      <p:grpSp>
        <p:nvGrpSpPr>
          <p:cNvPr id="342" name="Group 10"/>
          <p:cNvGrpSpPr/>
          <p:nvPr/>
        </p:nvGrpSpPr>
        <p:grpSpPr>
          <a:xfrm>
            <a:off x="1383840" y="1418760"/>
            <a:ext cx="6982920" cy="2884680"/>
            <a:chOff x="1383840" y="1418760"/>
            <a:chExt cx="6982920" cy="2884680"/>
          </a:xfrm>
        </p:grpSpPr>
        <p:sp>
          <p:nvSpPr>
            <p:cNvPr id="343" name="Freeform 11"/>
            <p:cNvSpPr/>
            <p:nvPr/>
          </p:nvSpPr>
          <p:spPr>
            <a:xfrm>
              <a:off x="1383840" y="1418760"/>
              <a:ext cx="6982920" cy="2884680"/>
            </a:xfrm>
            <a:custGeom>
              <a:avLst/>
              <a:gdLst>
                <a:gd name="textAreaLeft" fmla="*/ 0 w 6982920"/>
                <a:gd name="textAreaRight" fmla="*/ 6983280 w 6982920"/>
                <a:gd name="textAreaTop" fmla="*/ 0 h 2884680"/>
                <a:gd name="textAreaBottom" fmla="*/ 2885040 h 2884680"/>
              </a:gdLst>
              <a:ahLst/>
              <a:rect l="textAreaLeft" t="textAreaTop" r="textAreaRight" b="textAreaBottom"/>
              <a:pathLst>
                <a:path w="1081913" h="446948">
                  <a:moveTo>
                    <a:pt x="8869" y="0"/>
                  </a:moveTo>
                  <a:lnTo>
                    <a:pt x="1073044" y="0"/>
                  </a:lnTo>
                  <a:cubicBezTo>
                    <a:pt x="1077942" y="0"/>
                    <a:pt x="1081913" y="3971"/>
                    <a:pt x="1081913" y="8869"/>
                  </a:cubicBezTo>
                  <a:lnTo>
                    <a:pt x="1081913" y="438079"/>
                  </a:lnTo>
                  <a:cubicBezTo>
                    <a:pt x="1081913" y="440431"/>
                    <a:pt x="1080979" y="442687"/>
                    <a:pt x="1079315" y="444350"/>
                  </a:cubicBezTo>
                  <a:cubicBezTo>
                    <a:pt x="1077652" y="446013"/>
                    <a:pt x="1075396" y="446948"/>
                    <a:pt x="1073044" y="446948"/>
                  </a:cubicBezTo>
                  <a:lnTo>
                    <a:pt x="8869" y="446948"/>
                  </a:lnTo>
                  <a:cubicBezTo>
                    <a:pt x="3971" y="446948"/>
                    <a:pt x="0" y="442977"/>
                    <a:pt x="0" y="438079"/>
                  </a:cubicBezTo>
                  <a:lnTo>
                    <a:pt x="0" y="8869"/>
                  </a:lnTo>
                  <a:cubicBezTo>
                    <a:pt x="0" y="3971"/>
                    <a:pt x="3971" y="0"/>
                    <a:pt x="8869" y="0"/>
                  </a:cubicBez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44" name="TextBox 12"/>
          <p:cNvSpPr/>
          <p:nvPr/>
        </p:nvSpPr>
        <p:spPr>
          <a:xfrm>
            <a:off x="2286000" y="6172200"/>
            <a:ext cx="13408560" cy="2993760"/>
          </a:xfrm>
          <a:prstGeom prst="rect">
            <a:avLst/>
          </a:prstGeom>
          <a:noFill/>
          <a:ln w="0">
            <a:noFill/>
          </a:ln>
        </p:spPr>
        <p:style>
          <a:lnRef idx="0"/>
          <a:fillRef idx="0"/>
          <a:effectRef idx="0"/>
          <a:fontRef idx="minor"/>
        </p:style>
        <p:txBody>
          <a:bodyPr lIns="0" rIns="0" tIns="0" bIns="0" anchor="t">
            <a:spAutoFit/>
          </a:bodyPr>
          <a:p>
            <a:pPr defTabSz="914400">
              <a:lnSpc>
                <a:spcPts val="4714"/>
              </a:lnSpc>
              <a:spcBef>
                <a:spcPts val="1191"/>
              </a:spcBef>
              <a:spcAft>
                <a:spcPts val="992"/>
              </a:spcAft>
            </a:pPr>
            <a:r>
              <a:rPr b="0" lang="en-US" sz="1800" spc="-1" strike="noStrike">
                <a:solidFill>
                  <a:srgbClr val="ffffff"/>
                </a:solidFill>
                <a:latin typeface="Mukta Light"/>
                <a:ea typeface="Mukta Light"/>
              </a:rPr>
              <a:t>Effective product ranking is not an IT problem; it is a </a:t>
            </a:r>
            <a:r>
              <a:rPr b="1" lang="en-US" sz="1800" spc="-1" strike="noStrike">
                <a:solidFill>
                  <a:srgbClr val="ffffff"/>
                </a:solidFill>
                <a:latin typeface="Mukta Light"/>
                <a:ea typeface="Mukta Light"/>
              </a:rPr>
              <a:t>core business strategy.</a:t>
            </a:r>
            <a:r>
              <a:rPr b="0" lang="en-US" sz="1800" spc="-1" strike="noStrike">
                <a:solidFill>
                  <a:srgbClr val="ffffff"/>
                </a:solidFill>
                <a:latin typeface="Mukta Light"/>
                <a:ea typeface="Mukta Light"/>
              </a:rPr>
              <a:t> It transforms the search box from a simple utility into a dynamic, revenue-driving merchandising tool.The path to maturity is an </a:t>
            </a:r>
            <a:r>
              <a:rPr b="1" lang="en-US" sz="1800" spc="-1" strike="noStrike">
                <a:solidFill>
                  <a:srgbClr val="ffffff"/>
                </a:solidFill>
                <a:latin typeface="Mukta Light"/>
                <a:ea typeface="Mukta Light"/>
              </a:rPr>
              <a:t>evolutionary journey</a:t>
            </a:r>
            <a:r>
              <a:rPr b="0" lang="en-US" sz="1800" spc="-1" strike="noStrike">
                <a:solidFill>
                  <a:srgbClr val="ffffff"/>
                </a:solidFill>
                <a:latin typeface="Mukta Light"/>
                <a:ea typeface="Mukta Light"/>
              </a:rPr>
              <a:t>, starting with strong text relevance, layering on critical business rules, and ultimately progressing to data-driven, machine-learned relevance with LTR. Elasticsearch provides the essential, scalable, and flexible toolkit for every stage of this journey, empowering teams to find the optimal balance between customer intent and business objectives.</a:t>
            </a:r>
            <a:endParaRPr b="0" lang="en-US" sz="1800" spc="-1" strike="noStrike">
              <a:solidFill>
                <a:srgbClr val="ffffff"/>
              </a:solidFill>
              <a:latin typeface="Arial"/>
            </a:endParaRPr>
          </a:p>
        </p:txBody>
      </p:sp>
      <p:sp>
        <p:nvSpPr>
          <p:cNvPr id="345" name="TextBox 13"/>
          <p:cNvSpPr/>
          <p:nvPr/>
        </p:nvSpPr>
        <p:spPr>
          <a:xfrm>
            <a:off x="8793360" y="1323360"/>
            <a:ext cx="8294760" cy="796680"/>
          </a:xfrm>
          <a:prstGeom prst="rect">
            <a:avLst/>
          </a:prstGeom>
          <a:noFill/>
          <a:ln w="0">
            <a:noFill/>
          </a:ln>
        </p:spPr>
        <p:style>
          <a:lnRef idx="0"/>
          <a:fillRef idx="0"/>
          <a:effectRef idx="0"/>
          <a:fontRef idx="minor"/>
        </p:style>
        <p:txBody>
          <a:bodyPr lIns="0" rIns="0" tIns="0" bIns="0" anchor="t">
            <a:spAutoFit/>
          </a:bodyPr>
          <a:p>
            <a:pPr defTabSz="914400">
              <a:lnSpc>
                <a:spcPts val="6270"/>
              </a:lnSpc>
              <a:spcBef>
                <a:spcPts val="1191"/>
              </a:spcBef>
              <a:spcAft>
                <a:spcPts val="992"/>
              </a:spcAft>
            </a:pPr>
            <a:r>
              <a:rPr b="0" lang="en-US" sz="4480" spc="-1" strike="noStrike">
                <a:solidFill>
                  <a:srgbClr val="ffffff"/>
                </a:solidFill>
                <a:latin typeface="HK Modular"/>
                <a:ea typeface="HK Modular"/>
              </a:rPr>
              <a:t>Conclusion</a:t>
            </a:r>
            <a:endParaRPr b="0" lang="en-US" sz="44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94</TotalTime>
  <Application>LibreOffice/24.2.3.2$MacOSX_X86_64 LibreOffice_project/433d9c2ded56988e8a90e6b2e771ee4e6a5ab2ba</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DAG_OZKeLmg</dc:identifier>
  <dc:language>en-US</dc:language>
  <cp:lastModifiedBy/>
  <dcterms:modified xsi:type="dcterms:W3CDTF">2026-01-23T14:04:26Z</dcterms:modified>
  <cp:revision>32</cp:revision>
  <dc:subject/>
  <dc:title>Black and Purple Modern Technology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